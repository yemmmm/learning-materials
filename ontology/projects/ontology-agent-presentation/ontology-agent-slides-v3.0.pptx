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0f8be56fcb41a5" /><Relationship Type="http://schemas.openxmlformats.org/officeDocument/2006/relationships/extended-properties" Target="/docProps/app.xml" Id="R5a150c12532447cf" /><Relationship Type="http://schemas.openxmlformats.org/officeDocument/2006/relationships/officeDocument" Target="/ppt/presentation.xml" Id="R25a1dc8b0e0548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ca8c760e494375"/>
  </p:sldMasterIdLst>
  <p:notesMasterIdLst>
    <p:notesMasterId xmlns:r="http://schemas.openxmlformats.org/officeDocument/2006/relationships" r:id="Rabeb369393474d97"/>
  </p:notesMasterIdLst>
  <p:sldIdLst>
    <p:sldId xmlns:r="http://schemas.openxmlformats.org/officeDocument/2006/relationships" id="256" r:id="R21e2a32814f646d2"/>
    <p:sldId xmlns:r="http://schemas.openxmlformats.org/officeDocument/2006/relationships" id="257" r:id="R1d83c297904b4c0c"/>
    <p:sldId xmlns:r="http://schemas.openxmlformats.org/officeDocument/2006/relationships" id="258" r:id="R853d7c1550ca4bde"/>
    <p:sldId xmlns:r="http://schemas.openxmlformats.org/officeDocument/2006/relationships" id="259" r:id="R3dc4ea3e70214250"/>
    <p:sldId xmlns:r="http://schemas.openxmlformats.org/officeDocument/2006/relationships" id="260" r:id="R1e8a9ab2360c42ea"/>
    <p:sldId xmlns:r="http://schemas.openxmlformats.org/officeDocument/2006/relationships" id="261" r:id="R186234ee40f040db"/>
    <p:sldId xmlns:r="http://schemas.openxmlformats.org/officeDocument/2006/relationships" id="262" r:id="Rbc0f594afb2849b5"/>
    <p:sldId xmlns:r="http://schemas.openxmlformats.org/officeDocument/2006/relationships" id="263" r:id="Rad12d0def3d74782"/>
    <p:sldId xmlns:r="http://schemas.openxmlformats.org/officeDocument/2006/relationships" id="264" r:id="R9242b2b460f0492e"/>
    <p:sldId xmlns:r="http://schemas.openxmlformats.org/officeDocument/2006/relationships" id="265" r:id="Rd87355c999ce415d"/>
    <p:sldId xmlns:r="http://schemas.openxmlformats.org/officeDocument/2006/relationships" id="266" r:id="Rf4548bd6df1140b4"/>
    <p:sldId xmlns:r="http://schemas.openxmlformats.org/officeDocument/2006/relationships" id="267" r:id="R2005288c6cb041c0"/>
    <p:sldId xmlns:r="http://schemas.openxmlformats.org/officeDocument/2006/relationships" id="268" r:id="Ra7054f1db15d4999"/>
    <p:sldId xmlns:r="http://schemas.openxmlformats.org/officeDocument/2006/relationships" id="269" r:id="R6892b4e9bd7d46d5"/>
    <p:sldId xmlns:r="http://schemas.openxmlformats.org/officeDocument/2006/relationships" id="270" r:id="Recdde8c2b8704fed"/>
    <p:sldId xmlns:r="http://schemas.openxmlformats.org/officeDocument/2006/relationships" id="271" r:id="R7393ec6afdec40a2"/>
    <p:sldId xmlns:r="http://schemas.openxmlformats.org/officeDocument/2006/relationships" id="272" r:id="R3854d9b6b3dc4840"/>
    <p:sldId xmlns:r="http://schemas.openxmlformats.org/officeDocument/2006/relationships" id="273" r:id="R6e4126bfdf6745d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7f01f26b4944f7" /><Relationship Type="http://schemas.openxmlformats.org/officeDocument/2006/relationships/slideMaster" Target="/ppt/slideMasters/slideMaster1.xml" Id="R25ca8c760e494375" /><Relationship Type="http://schemas.openxmlformats.org/officeDocument/2006/relationships/notesMaster" Target="/ppt/notesMasters/notesMaster1.xml" Id="Rabeb369393474d97" /><Relationship Type="http://schemas.openxmlformats.org/officeDocument/2006/relationships/presProps" Target="/ppt/presProps.xml" Id="R167d903513f8406a" /><Relationship Type="http://schemas.openxmlformats.org/officeDocument/2006/relationships/tableStyles" Target="/ppt/tableStyles.xml" Id="R9021d2dd6e374725" /><Relationship Type="http://schemas.openxmlformats.org/officeDocument/2006/relationships/slide" Target="/ppt/slides/slide1.xml" Id="R21e2a32814f646d2" /><Relationship Type="http://schemas.openxmlformats.org/officeDocument/2006/relationships/slide" Target="/ppt/slides/slide2.xml" Id="R1d83c297904b4c0c" /><Relationship Type="http://schemas.openxmlformats.org/officeDocument/2006/relationships/slide" Target="/ppt/slides/slide3.xml" Id="R853d7c1550ca4bde" /><Relationship Type="http://schemas.openxmlformats.org/officeDocument/2006/relationships/slide" Target="/ppt/slides/slide4.xml" Id="R3dc4ea3e70214250" /><Relationship Type="http://schemas.openxmlformats.org/officeDocument/2006/relationships/slide" Target="/ppt/slides/slide5.xml" Id="R1e8a9ab2360c42ea" /><Relationship Type="http://schemas.openxmlformats.org/officeDocument/2006/relationships/slide" Target="/ppt/slides/slide6.xml" Id="R186234ee40f040db" /><Relationship Type="http://schemas.openxmlformats.org/officeDocument/2006/relationships/slide" Target="/ppt/slides/slide7.xml" Id="Rbc0f594afb2849b5" /><Relationship Type="http://schemas.openxmlformats.org/officeDocument/2006/relationships/slide" Target="/ppt/slides/slide8.xml" Id="Rad12d0def3d74782" /><Relationship Type="http://schemas.openxmlformats.org/officeDocument/2006/relationships/slide" Target="/ppt/slides/slide9.xml" Id="R9242b2b460f0492e" /><Relationship Type="http://schemas.openxmlformats.org/officeDocument/2006/relationships/slide" Target="/ppt/slides/slide10.xml" Id="Rd87355c999ce415d" /><Relationship Type="http://schemas.openxmlformats.org/officeDocument/2006/relationships/slide" Target="/ppt/slides/slide11.xml" Id="Rf4548bd6df1140b4" /><Relationship Type="http://schemas.openxmlformats.org/officeDocument/2006/relationships/slide" Target="/ppt/slides/slide12.xml" Id="R2005288c6cb041c0" /><Relationship Type="http://schemas.openxmlformats.org/officeDocument/2006/relationships/slide" Target="/ppt/slides/slide13.xml" Id="Ra7054f1db15d4999" /><Relationship Type="http://schemas.openxmlformats.org/officeDocument/2006/relationships/slide" Target="/ppt/slides/slide14.xml" Id="R6892b4e9bd7d46d5" /><Relationship Type="http://schemas.openxmlformats.org/officeDocument/2006/relationships/slide" Target="/ppt/slides/slide15.xml" Id="Recdde8c2b8704fed" /><Relationship Type="http://schemas.openxmlformats.org/officeDocument/2006/relationships/slide" Target="/ppt/slides/slide16.xml" Id="R7393ec6afdec40a2" /><Relationship Type="http://schemas.openxmlformats.org/officeDocument/2006/relationships/slide" Target="/ppt/slides/slide17.xml" Id="R3854d9b6b3dc4840" /><Relationship Type="http://schemas.openxmlformats.org/officeDocument/2006/relationships/slide" Target="/ppt/slides/slide18.xml" Id="R6e4126bfdf67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0643537ed4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af874a33ff4d05" /><Relationship Type="http://schemas.openxmlformats.org/officeDocument/2006/relationships/notesMaster" Target="/ppt/notesMasters/notesMaster1.xml" Id="Re7da0b420a26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affd53c1a34c34" /><Relationship Type="http://schemas.openxmlformats.org/officeDocument/2006/relationships/notesMaster" Target="/ppt/notesMasters/notesMaster1.xml" Id="Rf319238bdf9a48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dbc0111ac44d60" /><Relationship Type="http://schemas.openxmlformats.org/officeDocument/2006/relationships/notesMaster" Target="/ppt/notesMasters/notesMaster1.xml" Id="R03f9c30e899c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0514cba577450f" /><Relationship Type="http://schemas.openxmlformats.org/officeDocument/2006/relationships/notesMaster" Target="/ppt/notesMasters/notesMaster1.xml" Id="R1d0a0629c4c2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cba0bef0eb4c7e" /><Relationship Type="http://schemas.openxmlformats.org/officeDocument/2006/relationships/notesMaster" Target="/ppt/notesMasters/notesMaster1.xml" Id="R0b6427c78b494d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61d171a3674dbe" /><Relationship Type="http://schemas.openxmlformats.org/officeDocument/2006/relationships/notesMaster" Target="/ppt/notesMasters/notesMaster1.xml" Id="R34b826ab3f3a46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4010b1b73e4ae9" /><Relationship Type="http://schemas.openxmlformats.org/officeDocument/2006/relationships/notesMaster" Target="/ppt/notesMasters/notesMaster1.xml" Id="R9b4a5325679e4c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f8fd258296492e" /><Relationship Type="http://schemas.openxmlformats.org/officeDocument/2006/relationships/notesMaster" Target="/ppt/notesMasters/notesMaster1.xml" Id="Re7b4c98ea4814b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b7882e81e4273" /><Relationship Type="http://schemas.openxmlformats.org/officeDocument/2006/relationships/notesMaster" Target="/ppt/notesMasters/notesMaster1.xml" Id="Rb9d22edf751d49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522b52776f4c69" /><Relationship Type="http://schemas.openxmlformats.org/officeDocument/2006/relationships/notesMaster" Target="/ppt/notesMasters/notesMaster1.xml" Id="R78c74e514dd64b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a2514d97b64b5a" /><Relationship Type="http://schemas.openxmlformats.org/officeDocument/2006/relationships/notesMaster" Target="/ppt/notesMasters/notesMaster1.xml" Id="R7530b2dae10e45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0226964d0549b1" /><Relationship Type="http://schemas.openxmlformats.org/officeDocument/2006/relationships/notesMaster" Target="/ppt/notesMasters/notesMaster1.xml" Id="R67783d4f1c904e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c65ef4ecf54c52" /><Relationship Type="http://schemas.openxmlformats.org/officeDocument/2006/relationships/notesMaster" Target="/ppt/notesMasters/notesMaster1.xml" Id="R26523327fcfe4f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ff4c6e451a43a9" /><Relationship Type="http://schemas.openxmlformats.org/officeDocument/2006/relationships/notesMaster" Target="/ppt/notesMasters/notesMaster1.xml" Id="Rb889383579434b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b704e73c0945b9" /><Relationship Type="http://schemas.openxmlformats.org/officeDocument/2006/relationships/notesMaster" Target="/ppt/notesMasters/notesMaster1.xml" Id="R52c8d4a8d5684d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61339573b84e24" /><Relationship Type="http://schemas.openxmlformats.org/officeDocument/2006/relationships/notesMaster" Target="/ppt/notesMasters/notesMaster1.xml" Id="R0f171151507745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0ee136b46d4d52" /><Relationship Type="http://schemas.openxmlformats.org/officeDocument/2006/relationships/notesMaster" Target="/ppt/notesMasters/notesMaster1.xml" Id="Rb282fcf603554a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4a01829ba34c82" /><Relationship Type="http://schemas.openxmlformats.org/officeDocument/2006/relationships/notesMaster" Target="/ppt/notesMasters/notesMaster1.xml" Id="R2e233139287e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我们从一件很普通的事情开始：张三提交了一张差旅申请，希望 Agent 帮忙找到审批人。沿着这个问题，我们会认识本体是什么，区分本体与 RDF、OWL 等表达技术，再看 Agent 如何使用领域知识，最后介绍 OntoWeave。这里的组织、人员关系与政策均为教学设定。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政策指定的是申请人当前所属部门的负责人。张三属于研发部，研发部负责人是李敏，因此本例应由李敏审批。王强是张三的直属主管，这是另一种关系。我们刚才把政策中的概念和关系，对应到了具体对象上。这个任务不要求证明语言模型一定会答错，而是帮助我们看清回答所依赖的业务含义。这些含义可以怎样明确记录，并被重复使用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工程中的本体，可以先理解为一份明确的领域语义模型。它说明业务里有哪些概念，这些概念是什么意思，对象怎样关联，以及哪些语义约定成立。例如，申请人与部门如何关联，经理和员工是什么分类关系。我们选择当前问题需要表达的知识，不需要把整个世界一次描述完整。接下来把现实中的业务、语义模型以及表达技术分开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Tom Gruber · Ontology Definition: https://tomgruber.org/writing/definition-of-ontology/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边是现实业务：张三在一个部门工作，提交了一张申请。中间是我们对这些事情的理解：员工、部门、申请各是什么，它们如何关联。右边是用什么方式把含义记录下来。实际保存的本体产物当然有表达形式，但我们可以把语义选择和技术选择分别讨论。同一套业务理解可以通过不同方式表达。下面先认识本体的常见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Tom Gruber · Ontology Definition: https://tomgruber.org/writing/definition-of-ontology/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空心的概念：经理、员工和部门是类。姓名和入职时间描述对象的特征。隶属于说明两个对象之间的联系。经理是一类员工，是有逻辑含义的分类断言。底部实心的张三和研发部是具体对象。这里按教学目的把属性和关系分别列出，在 OWL 中，对象间的关系通常也属于属性。公理用于陈述知识，不是额外的一种业务对象。各项按用途选择，个体可以按需纳入。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W3C · OWL 2 Primer: https://www.w3.org/TR/owl2-primer/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员工是一种概念，张三是具体对象。部门是一种概念，研发部是具体对象。上面的定义告诉我们如何理解所属部门关系，下面的事实告诉我们这次关系连接着谁。即使负责人发生变化，上面的词汇与关系定义仍然可以继续使用。具体事实可以保存在知识系统中，也可以留在人事和差旅系统中，在使用时读取。这是定义与事实的作用区别，不是规定本体只能有类、知识图谱只能有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W3C · OWL 2 Primer: https://www.w3.org/TR/owl2-primer/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RDF 用主体、谓词、对象这样的三元组来陈述知识，多个陈述通过共同对象连接成图。OWL 为本体表达提供形式定义的含义，可以描述类之间的互斥等关系。两者可以一起使用，也不是互斥的文件格式。RDF 既可用于事实，也可用于定义；RDFS 已提供一些基础分类词汇。我们先把这两个技术名词放在表达层，接着看看明确的逻辑含义能够带来什么。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W3C · RDF 1.1 Primer: https://www.w3.org/TR/rdf11-primer/</a:t>
            </a:r>
          </a:p>
          <a:p xmlns:a="http://schemas.openxmlformats.org/drawingml/2006/main">
            <a:r>
              <a:t>W3C · OWL 2 Primer: https://www.w3.org/TR/owl2-primer/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理属于员工，李敏属于经理，因此可以推出李敏也属于员工。这里是给定知识下的逻辑后果。右边是另外一个假设误录的例子：如果员工与部门已经声明为互斥，却把张三同时归到两个类别，就会产生矛盾。能够做什么检查和推导，取决于表达范围与所使用的推理工具。逻辑一致不自动证明外部数据真实，形式推理也与语言模型组织业务判断的过程有所不同。OntoWeave 当前不提供这里展示的 OWL 自动推理运行。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W3C · OWL 2 Primer: https://www.w3.org/TR/owl2-primer/</a:t>
            </a:r>
          </a:p>
          <a:p xmlns:a="http://schemas.openxmlformats.org/drawingml/2006/main">
            <a:r>
              <a:t>OntoWeave 原项目：README.md；docs/requirements/requirements-v4.0.md（R4.0-008、R4.0-025）；docs/requirements/requirements-v4.3.md（R4.3-024/025）。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本体强调概念与关系的明确含义。知识图谱强调把有关对象的知识组织、连接起来，供查询和使用。一个知识图谱可以同时包含定义和具体事实，它也可以采用不同的图技术。RDF 和 OWL 则属于相关的表达技术。这里用同一幅图展示协作方式，避免把本体、知识图谱和某一种格式混为一谈。接下来，把这些知识放到 Agent 的工作过程中。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Hogan et al. · Knowledge Graphs: https://arxiv.org/abs/2003.02320</a:t>
            </a:r>
          </a:p>
          <a:p xmlns:a="http://schemas.openxmlformats.org/drawingml/2006/main">
            <a:r>
              <a:t>Tom Gruber · Ontology Definition: https://tomgruber.org/writing/definition-of-ontology/</a:t>
            </a:r>
          </a:p>
          <a:p xmlns:a="http://schemas.openxmlformats.org/drawingml/2006/main">
            <a:r>
              <a:t>W3C · RDF 1.1 Primer: https://www.w3.org/TR/rdf11-primer/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使用语言模型理解问题、组织计划和解释结果。语义模型提供组织特定的概念、关系和政策含义。业务系统提供当下的申请人与组织关系，工具则承担查询、计算或执行操作。这是一种概念分工，实际系统可以有不同实现。Agent 读取本体，不表示本体直接修改了语言模型参数。我们把这些分工放回刚才的审批任务，完整走一遍。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步，取得适用政策以及申请人、所属部门、负责人这些定义。第二步，从差旅系统取得申请人张三，从人事系统取得研发部与李敏的事实。第三步，结合政策选用所属部门负责人这条路径。第四步，明确回答李敏，并解释每一个依据。直属主管王强对应另一种关系。若负责人事实缺失，Agent 应指出未知并补充查询或询问。若用户还要求提交申请，再按授权调用业务系统，以实际回执确认结果。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检索帮助找到相关制度与背景。本体和语义检索提供明确整理的概念、关系与适用说明。工具和业务系统提供具体事实与操作能力。这些能力可以组合，边界也可能重叠，比如本体内容本身可以被检索，工具也可以封装业务规则。这里的分工是为了理解它们在任务中提供的帮助，不是把 RAG 简化成关键词匹配，也不是说每一个任务都必须使用本体。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差旅助手、报表助手和组织助手的问题不同，但都可以使用员工、所属部门和部门负责人的共同定义。每个 Agent 仍保留自己的任务、事实来源和工具。共享定义有助于让业务含义被统一澄清和维护，也方便发现同一个词在不同任务中是否被误用。共享不意味着越过各自权限。要建立这样的共同知识，需要从实际问题出发进行建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确定要回答的问题，控制范围。再与资料和业务人员一起确认含义，例如这里的负责人到底是哪种角色。随后建立概念、关系和政策说明，并指出事实来自哪个系统。最后用实际业务问题验证：正常情况下能否解释，必要信息缺失时能否如实指出未知。审批政策可以表达成有明确关联的业务说明，是否进一步编码成可执行逻辑，取决于实际用途。生产者自查与独立业务验证承担不同职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本体的价值通常来自业务知识的共享、关系的明确表达以及跨任务复用。如果多个系统和 Agent 反复使用相同的概念，投入可能更有意义。与此同时，模型需要业务澄清、来源连接、验证和维护，这些工作并不会自动消失。对于问题少、变化少且现有文档和工具已经足够的场景，可以先采用更轻量的方式。当共享需求增长，我们需要一个支持这些工作的语义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OntoWeave 是面向 Agent 的业务语义平台。外部建模 Agent 与业务人员理解资料、确认含义，平台保存模型，提供确定性校验与受治理读取。业务 Agent 从平台取得相关知识，再通过外部系统查询事实和执行获准操作。这里的模型检查与维护，不表示平台当前提供 OWL 自动推理或业务流程执行引擎。我们用这张简化的图介绍产品职责，接下来看看建设与使用如何衔接。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OntoWeave 原项目：README.md；docs/requirements/requirements-v4.0.md（R4.0-008、R4.0-025）；docs/requirements/requirements-v4.3.md（R4.3-024/025）。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构建时，从制度与访谈形成输入，建模 Agent 整理概念、关系与政策说明，提交到平台，再通过业务问题读取与验证。使用时，业务 Agent 围绕当前问题读取相关语义。它得到的可以是审批政策、所属部门关系、负责人含义和人事信息来源，而具体谁担任负责人仍从业务系统读取。这里的四行内容是帮助理解读取结果的教学示意，不是实际接口 JSON 或运行回执。当前模型提交和读回按 R4.3-024/025 路径，真实业务语义效果需要相应验证。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OntoWeave 原项目：README.md；docs/requirements/requirements-v4.0.md（R4.0-008、R4.0-025）；docs/requirements/requirements-v4.3.md（R4.3-024/025）。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回到三个层次：现实世界是我们要描述和理解的对象，本体是对领域语义的明确建模，RDF、OWL 等技术帮助表达这些知识。Agent 结合语义、当下事实与工具，找到应由李敏审批的依据。我们把业务含义明确表达出来，Agent 就有了一份可以查询、共享和核对的领域知识。OntoWeave 支持的是这份知识的构建、维护与使用。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Tom Gruber · Ontology Definition: https://tomgruber.org/writing/definition-of-ontology/</a:t>
            </a:r>
          </a:p>
          <a:p xmlns:a="http://schemas.openxmlformats.org/drawingml/2006/main">
            <a:r>
              <a:t>W3C · RDF 1.1 Primer: https://www.w3.org/TR/rdf11-primer/</a:t>
            </a:r>
          </a:p>
          <a:p xmlns:a="http://schemas.openxmlformats.org/drawingml/2006/main">
            <a:r>
              <a:t>W3C · OWL 2 Primer: https://www.w3.org/TR/owl2-primer/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e37d10cdc42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8736510f84056" /><Relationship Type="http://schemas.openxmlformats.org/officeDocument/2006/relationships/slideLayout" Target="/ppt/slideLayouts/slideLayout1.xml" Id="R3abeb97f739744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beb97f739744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04a9fd4a44c2b" /><Relationship Type="http://schemas.openxmlformats.org/officeDocument/2006/relationships/image" Target="/ppt/media/image.png" Id="R5876ddccfe944419" /><Relationship Type="http://schemas.openxmlformats.org/officeDocument/2006/relationships/notesSlide" Target="/ppt/notesSlides/notesSlide1.xml" Id="R7751d8d1b4b24c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7bce2b3ce433b" /><Relationship Type="http://schemas.openxmlformats.org/officeDocument/2006/relationships/notesSlide" Target="/ppt/notesSlides/notesSlide2.xml" Id="R75a8bb61f5d94a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36640e5ca4454" /><Relationship Type="http://schemas.openxmlformats.org/officeDocument/2006/relationships/notesSlide" Target="/ppt/notesSlides/notesSlide3.xml" Id="R885c3634082547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ca56ab5334219" /><Relationship Type="http://schemas.openxmlformats.org/officeDocument/2006/relationships/notesSlide" Target="/ppt/notesSlides/notesSlide4.xml" Id="R7c1c6b61298b49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087adabf441ad" /><Relationship Type="http://schemas.openxmlformats.org/officeDocument/2006/relationships/notesSlide" Target="/ppt/notesSlides/notesSlide5.xml" Id="R821a1a96921b40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b84bbb7934aa6" /><Relationship Type="http://schemas.openxmlformats.org/officeDocument/2006/relationships/notesSlide" Target="/ppt/notesSlides/notesSlide6.xml" Id="Rf35ab1a1aedc4c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5bbbf32924549" /><Relationship Type="http://schemas.openxmlformats.org/officeDocument/2006/relationships/notesSlide" Target="/ppt/notesSlides/notesSlide7.xml" Id="Rea534ffde7e04d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d06ee08ca48c1" /><Relationship Type="http://schemas.openxmlformats.org/officeDocument/2006/relationships/notesSlide" Target="/ppt/notesSlides/notesSlide8.xml" Id="Rd921276e4fab49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48bf1cfde41a7" /><Relationship Type="http://schemas.openxmlformats.org/officeDocument/2006/relationships/notesSlide" Target="/ppt/notesSlides/notesSlide9.xml" Id="R2f652eee48cf40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9b04021c049f0" /><Relationship Type="http://schemas.openxmlformats.org/officeDocument/2006/relationships/notesSlide" Target="/ppt/notesSlides/notesSlide10.xml" Id="R357aff887d3349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ee592d3e74830" /><Relationship Type="http://schemas.openxmlformats.org/officeDocument/2006/relationships/notesSlide" Target="/ppt/notesSlides/notesSlide11.xml" Id="R5cbb9e6351c248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3521e98e04598" /><Relationship Type="http://schemas.openxmlformats.org/officeDocument/2006/relationships/notesSlide" Target="/ppt/notesSlides/notesSlide12.xml" Id="R516a476eebde45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14b3fbbf14b13" /><Relationship Type="http://schemas.openxmlformats.org/officeDocument/2006/relationships/notesSlide" Target="/ppt/notesSlides/notesSlide13.xml" Id="Rc2df1b6cf3324d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ad4c82ecb4663" /><Relationship Type="http://schemas.openxmlformats.org/officeDocument/2006/relationships/notesSlide" Target="/ppt/notesSlides/notesSlide14.xml" Id="Re1b77c10b9914d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2c7c861de4246" /><Relationship Type="http://schemas.openxmlformats.org/officeDocument/2006/relationships/notesSlide" Target="/ppt/notesSlides/notesSlide15.xml" Id="R03934e375d234b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6b0188f234a45" /><Relationship Type="http://schemas.openxmlformats.org/officeDocument/2006/relationships/notesSlide" Target="/ppt/notesSlides/notesSlide16.xml" Id="R364f7aee3c4149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2bd076cef467f" /><Relationship Type="http://schemas.openxmlformats.org/officeDocument/2006/relationships/notesSlide" Target="/ppt/notesSlides/notesSlide17.xml" Id="Re7bc1b8db0b24f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d725fc0f940b6" /><Relationship Type="http://schemas.openxmlformats.org/officeDocument/2006/relationships/notesSlide" Target="/ppt/notesSlides/notesSlide18.xml" Id="R05e80f8061c543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1-shape-1">
            <a:extLst xmlns:a="http://schemas.openxmlformats.org/drawingml/2006/main">
              <a:ext uri="{FF2B5EF4-FFF2-40B4-BE49-F238E27FC236}">
                <a16:creationId xmlns:a16="http://schemas.microsoft.com/office/drawing/2014/main" id="{CFFEDBAF-C7B2-4ED3-8633-4F7BA58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-text-2">
            <a:extLst xmlns:a="http://schemas.openxmlformats.org/drawingml/2006/main">
              <a:ext uri="{FF2B5EF4-FFF2-40B4-BE49-F238E27FC236}">
                <a16:creationId xmlns:a16="http://schemas.microsoft.com/office/drawing/2014/main" id="{D8B64BCE-2456-4CB9-B97D-878A7AE1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-text-3">
            <a:extLst xmlns:a="http://schemas.openxmlformats.org/drawingml/2006/main">
              <a:ext uri="{FF2B5EF4-FFF2-40B4-BE49-F238E27FC236}">
                <a16:creationId xmlns:a16="http://schemas.microsoft.com/office/drawing/2014/main" id="{898324DB-89AD-4178-9731-FD361B89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业务含义怎样成为 Agent 可用的知识</a:t>
            </a:r>
          </a:p>
        </p:txBody>
      </p:sp>
      <p:sp>
        <p:nvSpPr>
          <p:cNvPr id="4" name="p1-title">
            <a:extLst xmlns:a="http://schemas.openxmlformats.org/drawingml/2006/main">
              <a:ext uri="{FF2B5EF4-FFF2-40B4-BE49-F238E27FC236}">
                <a16:creationId xmlns:a16="http://schemas.microsoft.com/office/drawing/2014/main" id="{62C1198D-5198-48A5-9801-610D0A2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p1-text-4">
            <a:extLst xmlns:a="http://schemas.openxmlformats.org/drawingml/2006/main">
              <a:ext uri="{FF2B5EF4-FFF2-40B4-BE49-F238E27FC236}">
                <a16:creationId xmlns:a16="http://schemas.microsoft.com/office/drawing/2014/main" id="{29858A55-D7DE-48E6-8E8E-C063C47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01 / 18</a:t>
            </a:r>
          </a:p>
        </p:txBody>
      </p:sp>
      <p:sp>
        <p:nvSpPr>
          <p:cNvPr id="6" name="p1-title">
            <a:extLst xmlns:a="http://schemas.openxmlformats.org/drawingml/2006/main">
              <a:ext uri="{FF2B5EF4-FFF2-40B4-BE49-F238E27FC236}">
                <a16:creationId xmlns:a16="http://schemas.microsoft.com/office/drawing/2014/main" id="{9BDDB7C5-EB57-4498-A6EE-DA4247FE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1057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7800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7800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rPr>
              <a:t>本体与 Agent</a:t>
            </a:r>
          </a:p>
        </p:txBody>
      </p:sp>
      <p:sp>
        <p:nvSpPr>
          <p:cNvPr id="7" name="p1-text-5">
            <a:extLst xmlns:a="http://schemas.openxmlformats.org/drawingml/2006/main">
              <a:ext uri="{FF2B5EF4-FFF2-40B4-BE49-F238E27FC236}">
                <a16:creationId xmlns:a16="http://schemas.microsoft.com/office/drawing/2014/main" id="{202F3AFD-C2CE-44D5-A7C0-F8D93845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48125"/>
            <a:ext cx="1028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6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业务含义怎样成为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36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Agent 可用的知识</a:t>
            </a:r>
          </a:p>
        </p:txBody>
      </p:sp>
      <p:sp>
        <p:nvSpPr>
          <p:cNvPr id="8" name="p1-text-6">
            <a:extLst xmlns:a="http://schemas.openxmlformats.org/drawingml/2006/main">
              <a:ext uri="{FF2B5EF4-FFF2-40B4-BE49-F238E27FC236}">
                <a16:creationId xmlns:a16="http://schemas.microsoft.com/office/drawing/2014/main" id="{F7E523DE-9D75-4116-AF8F-B242632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3436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以一张差旅申请为例</a:t>
            </a:r>
          </a:p>
        </p:txBody>
      </p:sp>
      <p:sp>
        <p:nvSpPr>
          <p:cNvPr id="9" name="p1-text-7">
            <a:extLst xmlns:a="http://schemas.openxmlformats.org/drawingml/2006/main">
              <a:ext uri="{FF2B5EF4-FFF2-40B4-BE49-F238E27FC236}">
                <a16:creationId xmlns:a16="http://schemas.microsoft.com/office/drawing/2014/main" id="{C1AE9544-56D8-4A50-BE69-8A9FD849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67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OntoWeave（织义）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6ddccfe944419"/>
          <a:stretch xmlns:a="http://schemas.openxmlformats.org/drawingml/2006/main"/>
        </p:blipFill>
        <p:spPr>
          <a:xfrm xmlns:a="http://schemas.openxmlformats.org/drawingml/2006/main">
            <a:off x="13858875" y="178117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p1-shape-8">
            <a:extLst xmlns:a="http://schemas.openxmlformats.org/drawingml/2006/main">
              <a:ext uri="{FF2B5EF4-FFF2-40B4-BE49-F238E27FC236}">
                <a16:creationId xmlns:a16="http://schemas.microsoft.com/office/drawing/2014/main" id="{22A8583B-386F-43EA-A0B4-B533C7F7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143375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2" name="p1-text-9">
            <a:extLst xmlns:a="http://schemas.openxmlformats.org/drawingml/2006/main">
              <a:ext uri="{FF2B5EF4-FFF2-40B4-BE49-F238E27FC236}">
                <a16:creationId xmlns:a16="http://schemas.microsoft.com/office/drawing/2014/main" id="{F7E86B2A-CA07-47B2-9679-3F8F3519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767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差旅申请</a:t>
            </a:r>
          </a:p>
        </p:txBody>
      </p:sp>
      <p:sp>
        <p:nvSpPr>
          <p:cNvPr id="13" name="p1-text-10">
            <a:extLst xmlns:a="http://schemas.openxmlformats.org/drawingml/2006/main">
              <a:ext uri="{FF2B5EF4-FFF2-40B4-BE49-F238E27FC236}">
                <a16:creationId xmlns:a16="http://schemas.microsoft.com/office/drawing/2014/main" id="{17698524-7B32-4A35-B780-BA93B6B4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572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T-101</a:t>
            </a:r>
          </a:p>
        </p:txBody>
      </p:sp>
      <p:sp>
        <p:nvSpPr>
          <p:cNvPr id="14" name="p1-shape-11">
            <a:extLst xmlns:a="http://schemas.openxmlformats.org/drawingml/2006/main">
              <a:ext uri="{FF2B5EF4-FFF2-40B4-BE49-F238E27FC236}">
                <a16:creationId xmlns:a16="http://schemas.microsoft.com/office/drawing/2014/main" id="{64B02265-EC3B-4B32-B059-7D556784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143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15" name="p1-text-12">
            <a:extLst xmlns:a="http://schemas.openxmlformats.org/drawingml/2006/main">
              <a:ext uri="{FF2B5EF4-FFF2-40B4-BE49-F238E27FC236}">
                <a16:creationId xmlns:a16="http://schemas.microsoft.com/office/drawing/2014/main" id="{7A89AAE1-D4BC-47F6-9ABB-6137A036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4673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申请人</a:t>
            </a:r>
          </a:p>
        </p:txBody>
      </p:sp>
      <p:sp>
        <p:nvSpPr>
          <p:cNvPr id="16" name="p1-text-13">
            <a:extLst xmlns:a="http://schemas.openxmlformats.org/drawingml/2006/main">
              <a:ext uri="{FF2B5EF4-FFF2-40B4-BE49-F238E27FC236}">
                <a16:creationId xmlns:a16="http://schemas.microsoft.com/office/drawing/2014/main" id="{12658F6B-FD98-4A77-8B88-734589FA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4673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17" name="p1-text-14">
            <a:extLst xmlns:a="http://schemas.openxmlformats.org/drawingml/2006/main">
              <a:ext uri="{FF2B5EF4-FFF2-40B4-BE49-F238E27FC236}">
                <a16:creationId xmlns:a16="http://schemas.microsoft.com/office/drawing/2014/main" id="{D200D4EC-D12D-4257-8FB6-63014A3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1436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sp>
        <p:nvSpPr>
          <p:cNvPr id="18" name="p1-text-15">
            <a:extLst xmlns:a="http://schemas.openxmlformats.org/drawingml/2006/main">
              <a:ext uri="{FF2B5EF4-FFF2-40B4-BE49-F238E27FC236}">
                <a16:creationId xmlns:a16="http://schemas.microsoft.com/office/drawing/2014/main" id="{87C4DFBF-CEBB-4CF5-9F69-CA8A24A2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61436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研发部</a:t>
            </a:r>
          </a:p>
        </p:txBody>
      </p:sp>
      <p:sp>
        <p:nvSpPr>
          <p:cNvPr id="19" name="p1-text-16">
            <a:extLst xmlns:a="http://schemas.openxmlformats.org/drawingml/2006/main">
              <a:ext uri="{FF2B5EF4-FFF2-40B4-BE49-F238E27FC236}">
                <a16:creationId xmlns:a16="http://schemas.microsoft.com/office/drawing/2014/main" id="{01D8A989-3771-41C3-8133-3A3635C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8009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225" b="1">
                <a:solidFill>
                  <a:srgbClr val="2C7053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1">
                <a:solidFill>
                  <a:srgbClr val="2C7053"/>
                </a:solidFill>
                <a:latin typeface="Noto Serif CJK SC"/>
                <a:ea typeface="Noto Serif CJK SC"/>
                <a:cs typeface="Noto Serif CJK SC"/>
              </a:rPr>
              <a:t>该由谁审批？</a:t>
            </a:r>
          </a:p>
        </p:txBody>
      </p:sp>
    </p:spTree>
    <p:extLst>
      <p:ext uri="{BB962C8B-B14F-4D97-AF65-F5344CB8AC3E}">
        <p14:creationId xmlns:p14="http://schemas.microsoft.com/office/powerpoint/2010/main" val="907739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2-shape-17">
            <a:extLst xmlns:a="http://schemas.openxmlformats.org/drawingml/2006/main">
              <a:ext uri="{FF2B5EF4-FFF2-40B4-BE49-F238E27FC236}">
                <a16:creationId xmlns:a16="http://schemas.microsoft.com/office/drawing/2014/main" id="{678AF544-405E-402C-B375-C3C4EAB5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2-text-18">
            <a:extLst xmlns:a="http://schemas.openxmlformats.org/drawingml/2006/main">
              <a:ext uri="{FF2B5EF4-FFF2-40B4-BE49-F238E27FC236}">
                <a16:creationId xmlns:a16="http://schemas.microsoft.com/office/drawing/2014/main" id="{1938E0A8-7F48-4F1D-B980-D8C1728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2-text-19">
            <a:extLst xmlns:a="http://schemas.openxmlformats.org/drawingml/2006/main">
              <a:ext uri="{FF2B5EF4-FFF2-40B4-BE49-F238E27FC236}">
                <a16:creationId xmlns:a16="http://schemas.microsoft.com/office/drawing/2014/main" id="{6EA599CD-8208-49D3-9378-EF3A8208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01 / 认识本体</a:t>
            </a:r>
          </a:p>
        </p:txBody>
      </p:sp>
      <p:sp>
        <p:nvSpPr>
          <p:cNvPr id="4" name="p2-title">
            <a:extLst xmlns:a="http://schemas.openxmlformats.org/drawingml/2006/main">
              <a:ext uri="{FF2B5EF4-FFF2-40B4-BE49-F238E27FC236}">
                <a16:creationId xmlns:a16="http://schemas.microsoft.com/office/drawing/2014/main" id="{78EE1A91-3DB9-4BEE-9987-D5383D32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张三的差旅申请，该由谁审批？</a:t>
            </a:r>
          </a:p>
        </p:txBody>
      </p:sp>
      <p:sp>
        <p:nvSpPr>
          <p:cNvPr id="5" name="p2-text-20">
            <a:extLst xmlns:a="http://schemas.openxmlformats.org/drawingml/2006/main">
              <a:ext uri="{FF2B5EF4-FFF2-40B4-BE49-F238E27FC236}">
                <a16:creationId xmlns:a16="http://schemas.microsoft.com/office/drawing/2014/main" id="{26702212-8BC6-4100-8B10-BCAD636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同一位申请人，关联着不同的业务角色</a:t>
            </a:r>
          </a:p>
        </p:txBody>
      </p:sp>
      <p:sp>
        <p:nvSpPr>
          <p:cNvPr id="6" name="p2-shape-21">
            <a:extLst xmlns:a="http://schemas.openxmlformats.org/drawingml/2006/main">
              <a:ext uri="{FF2B5EF4-FFF2-40B4-BE49-F238E27FC236}">
                <a16:creationId xmlns:a16="http://schemas.microsoft.com/office/drawing/2014/main" id="{F0D94A16-9496-472E-B1C9-9CE219F8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2-text-22">
            <a:extLst xmlns:a="http://schemas.openxmlformats.org/drawingml/2006/main">
              <a:ext uri="{FF2B5EF4-FFF2-40B4-BE49-F238E27FC236}">
                <a16:creationId xmlns:a16="http://schemas.microsoft.com/office/drawing/2014/main" id="{70477599-D6B0-44DB-9517-EAD7CD04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找到审批人，需要把政策中的含义与具体人员对应起来</a:t>
            </a:r>
          </a:p>
        </p:txBody>
      </p:sp>
      <p:sp>
        <p:nvSpPr>
          <p:cNvPr id="8" name="p2-text-23">
            <a:extLst xmlns:a="http://schemas.openxmlformats.org/drawingml/2006/main">
              <a:ext uri="{FF2B5EF4-FFF2-40B4-BE49-F238E27FC236}">
                <a16:creationId xmlns:a16="http://schemas.microsoft.com/office/drawing/2014/main" id="{EE17DB23-3711-476D-882F-4E2AA8D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虚构组织与政策，仅用于教学。</a:t>
            </a:r>
          </a:p>
        </p:txBody>
      </p:sp>
      <p:sp>
        <p:nvSpPr>
          <p:cNvPr id="9" name="p2-text-24">
            <a:extLst xmlns:a="http://schemas.openxmlformats.org/drawingml/2006/main">
              <a:ext uri="{FF2B5EF4-FFF2-40B4-BE49-F238E27FC236}">
                <a16:creationId xmlns:a16="http://schemas.microsoft.com/office/drawing/2014/main" id="{B692FB57-D82C-4B85-8349-514FA29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02 / 18</a:t>
            </a:r>
          </a:p>
        </p:txBody>
      </p:sp>
      <p:sp>
        <p:nvSpPr>
          <p:cNvPr id="10" name="p2-shape-25">
            <a:extLst xmlns:a="http://schemas.openxmlformats.org/drawingml/2006/main">
              <a:ext uri="{FF2B5EF4-FFF2-40B4-BE49-F238E27FC236}">
                <a16:creationId xmlns:a16="http://schemas.microsoft.com/office/drawing/2014/main" id="{3E343E12-C9C1-4525-8BC9-F9200A0D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16154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2-text-26">
            <a:extLst xmlns:a="http://schemas.openxmlformats.org/drawingml/2006/main">
              <a:ext uri="{FF2B5EF4-FFF2-40B4-BE49-F238E27FC236}">
                <a16:creationId xmlns:a16="http://schemas.microsoft.com/office/drawing/2014/main" id="{63A5B85B-411B-4BDD-9CC9-80B3A75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本例政策</a:t>
            </a:r>
          </a:p>
        </p:txBody>
      </p:sp>
      <p:sp>
        <p:nvSpPr>
          <p:cNvPr id="12" name="p2-text-27">
            <a:extLst xmlns:a="http://schemas.openxmlformats.org/drawingml/2006/main">
              <a:ext uri="{FF2B5EF4-FFF2-40B4-BE49-F238E27FC236}">
                <a16:creationId xmlns:a16="http://schemas.microsoft.com/office/drawing/2014/main" id="{22055B94-C759-4F3B-92E8-15B7D3FA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差旅申请由申请人当前所属部门的负责人审批</a:t>
            </a:r>
          </a:p>
        </p:txBody>
      </p:sp>
      <p:sp>
        <p:nvSpPr>
          <p:cNvPr id="13" name="p2-shape-28">
            <a:extLst xmlns:a="http://schemas.openxmlformats.org/drawingml/2006/main">
              <a:ext uri="{FF2B5EF4-FFF2-40B4-BE49-F238E27FC236}">
                <a16:creationId xmlns:a16="http://schemas.microsoft.com/office/drawing/2014/main" id="{AF3633B4-8414-4232-98DC-F483D838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43550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4" name="p2-text-29">
            <a:extLst xmlns:a="http://schemas.openxmlformats.org/drawingml/2006/main">
              <a:ext uri="{FF2B5EF4-FFF2-40B4-BE49-F238E27FC236}">
                <a16:creationId xmlns:a16="http://schemas.microsoft.com/office/drawing/2014/main" id="{01411059-DFD7-49FD-94CB-E8C2A61D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26289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15" name="p2-text-30">
            <a:extLst xmlns:a="http://schemas.openxmlformats.org/drawingml/2006/main">
              <a:ext uri="{FF2B5EF4-FFF2-40B4-BE49-F238E27FC236}">
                <a16:creationId xmlns:a16="http://schemas.microsoft.com/office/drawing/2014/main" id="{A02F6298-B4F7-4651-810D-2DEC320E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07455"/>
            <a:ext cx="2667000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申请人</a:t>
            </a:r>
          </a:p>
        </p:txBody>
      </p:sp>
      <p:sp>
        <p:nvSpPr>
          <p:cNvPr id="16" name="p2-shape-31">
            <a:extLst xmlns:a="http://schemas.openxmlformats.org/drawingml/2006/main">
              <a:ext uri="{FF2B5EF4-FFF2-40B4-BE49-F238E27FC236}">
                <a16:creationId xmlns:a16="http://schemas.microsoft.com/office/drawing/2014/main" id="{3DF62DA3-49FB-4786-8B51-5E5EA893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435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2-text-32">
            <a:extLst xmlns:a="http://schemas.openxmlformats.org/drawingml/2006/main">
              <a:ext uri="{FF2B5EF4-FFF2-40B4-BE49-F238E27FC236}">
                <a16:creationId xmlns:a16="http://schemas.microsoft.com/office/drawing/2014/main" id="{E99B3202-4B51-4415-8C88-7D286F76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753100"/>
            <a:ext cx="31051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研发部</a:t>
            </a:r>
          </a:p>
        </p:txBody>
      </p:sp>
      <p:sp>
        <p:nvSpPr>
          <p:cNvPr id="18" name="p2-text-33">
            <a:extLst xmlns:a="http://schemas.openxmlformats.org/drawingml/2006/main">
              <a:ext uri="{FF2B5EF4-FFF2-40B4-BE49-F238E27FC236}">
                <a16:creationId xmlns:a16="http://schemas.microsoft.com/office/drawing/2014/main" id="{82295F50-C02C-41A1-A39D-A23AF978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07455"/>
            <a:ext cx="3143250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张三所属部门</a:t>
            </a:r>
          </a:p>
        </p:txBody>
      </p:sp>
      <p:sp>
        <p:nvSpPr>
          <p:cNvPr id="19" name="p2-shape-34">
            <a:extLst xmlns:a="http://schemas.openxmlformats.org/drawingml/2006/main">
              <a:ext uri="{FF2B5EF4-FFF2-40B4-BE49-F238E27FC236}">
                <a16:creationId xmlns:a16="http://schemas.microsoft.com/office/drawing/2014/main" id="{1E2F7708-5863-4C7A-A8B2-347AE33A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543550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2-text-35">
            <a:extLst xmlns:a="http://schemas.openxmlformats.org/drawingml/2006/main">
              <a:ext uri="{FF2B5EF4-FFF2-40B4-BE49-F238E27FC236}">
                <a16:creationId xmlns:a16="http://schemas.microsoft.com/office/drawing/2014/main" id="{80E01FA9-1C27-471E-AD97-D9454986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753100"/>
            <a:ext cx="26289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李敏</a:t>
            </a:r>
          </a:p>
        </p:txBody>
      </p:sp>
      <p:sp>
        <p:nvSpPr>
          <p:cNvPr id="21" name="p2-text-36">
            <a:extLst xmlns:a="http://schemas.openxmlformats.org/drawingml/2006/main">
              <a:ext uri="{FF2B5EF4-FFF2-40B4-BE49-F238E27FC236}">
                <a16:creationId xmlns:a16="http://schemas.microsoft.com/office/drawing/2014/main" id="{8317C42C-DC4E-4354-85EF-DC208B0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6307455"/>
            <a:ext cx="2667000" cy="37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D7E1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D7E1D4"/>
                </a:solidFill>
                <a:latin typeface="Noto Sans CJK SC"/>
                <a:ea typeface="Noto Sans CJK SC"/>
                <a:cs typeface="Noto Sans CJK SC"/>
              </a:rPr>
              <a:t>研发部负责人</a:t>
            </a:r>
          </a:p>
        </p:txBody>
      </p:sp>
      <p:sp>
        <p:nvSpPr>
          <p:cNvPr id="22" name="p2-shape-37">
            <a:extLst xmlns:a="http://schemas.openxmlformats.org/drawingml/2006/main">
              <a:ext uri="{FF2B5EF4-FFF2-40B4-BE49-F238E27FC236}">
                <a16:creationId xmlns:a16="http://schemas.microsoft.com/office/drawing/2014/main" id="{6097AE74-7459-4D2F-9755-F77F31E2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42950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23" name="p2-text-38">
            <a:extLst xmlns:a="http://schemas.openxmlformats.org/drawingml/2006/main">
              <a:ext uri="{FF2B5EF4-FFF2-40B4-BE49-F238E27FC236}">
                <a16:creationId xmlns:a16="http://schemas.microsoft.com/office/drawing/2014/main" id="{03E2D02E-1D04-41E9-9528-E7D550A0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716203"/>
            <a:ext cx="310515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王强</a:t>
            </a:r>
          </a:p>
        </p:txBody>
      </p: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62500" y="61531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5" name="p2-text-39">
            <a:extLst xmlns:a="http://schemas.openxmlformats.org/drawingml/2006/main">
              <a:ext uri="{FF2B5EF4-FFF2-40B4-BE49-F238E27FC236}">
                <a16:creationId xmlns:a16="http://schemas.microsoft.com/office/drawing/2014/main" id="{7A5E1791-0C32-4206-AB3C-96584DED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0072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049000" y="61531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C7053"/>
            </a:solidFill>
            <a:prstDash val="solid"/>
            <a:tailEnd type="arrow" w="med" len="med"/>
          </a:ln>
        </p:spPr>
      </p:cxnSp>
      <p:sp>
        <p:nvSpPr>
          <p:cNvPr id="27" name="p2-text-40">
            <a:extLst xmlns:a="http://schemas.openxmlformats.org/drawingml/2006/main">
              <a:ext uri="{FF2B5EF4-FFF2-40B4-BE49-F238E27FC236}">
                <a16:creationId xmlns:a16="http://schemas.microsoft.com/office/drawing/2014/main" id="{0DAAF514-15FF-43F7-9F3F-18DF6574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007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部门负责人</a:t>
            </a:r>
          </a:p>
        </p:txBody>
      </p:sp>
      <p:cxnSp>
        <p:nvCxnSpPr>
          <p:cNvPr id="57" name=""/>
          <p:cNvCxnSpPr>
            <a:stCxn xmlns:a="http://schemas.openxmlformats.org/drawingml/2006/main" id="13" idx="2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333750" y="6762750"/>
            <a:ext cx="4381500" cy="11668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3813">
            <a:solidFill>
              <a:srgbClr val="617068"/>
            </a:solidFill>
            <a:prstDash val="solid"/>
            <a:tailEnd type="arrow" w="med" len="med"/>
          </a:ln>
        </p:spPr>
      </p:cxnSp>
      <p:sp>
        <p:nvSpPr>
          <p:cNvPr id="29" name="p2-text-41">
            <a:extLst xmlns:a="http://schemas.openxmlformats.org/drawingml/2006/main">
              <a:ext uri="{FF2B5EF4-FFF2-40B4-BE49-F238E27FC236}">
                <a16:creationId xmlns:a16="http://schemas.microsoft.com/office/drawing/2014/main" id="{85C9A6A3-EC38-4839-93FE-CFF528C7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591425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直属主管</a:t>
            </a:r>
          </a:p>
        </p:txBody>
      </p:sp>
    </p:spTree>
    <p:extLst>
      <p:ext uri="{BB962C8B-B14F-4D97-AF65-F5344CB8AC3E}">
        <p14:creationId xmlns:p14="http://schemas.microsoft.com/office/powerpoint/2010/main" val="1611271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3-shape-42">
            <a:extLst xmlns:a="http://schemas.openxmlformats.org/drawingml/2006/main">
              <a:ext uri="{FF2B5EF4-FFF2-40B4-BE49-F238E27FC236}">
                <a16:creationId xmlns:a16="http://schemas.microsoft.com/office/drawing/2014/main" id="{C700E0BE-CFDC-44FE-888D-89B14B9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3-text-43">
            <a:extLst xmlns:a="http://schemas.openxmlformats.org/drawingml/2006/main">
              <a:ext uri="{FF2B5EF4-FFF2-40B4-BE49-F238E27FC236}">
                <a16:creationId xmlns:a16="http://schemas.microsoft.com/office/drawing/2014/main" id="{5F535664-2726-44D4-9DE5-099621F8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3-text-44">
            <a:extLst xmlns:a="http://schemas.openxmlformats.org/drawingml/2006/main">
              <a:ext uri="{FF2B5EF4-FFF2-40B4-BE49-F238E27FC236}">
                <a16:creationId xmlns:a16="http://schemas.microsoft.com/office/drawing/2014/main" id="{37136758-0A60-4ED5-9BDE-7A58B5C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01 / 认识本体</a:t>
            </a:r>
          </a:p>
        </p:txBody>
      </p:sp>
      <p:sp>
        <p:nvSpPr>
          <p:cNvPr id="4" name="p3-title">
            <a:extLst xmlns:a="http://schemas.openxmlformats.org/drawingml/2006/main">
              <a:ext uri="{FF2B5EF4-FFF2-40B4-BE49-F238E27FC236}">
                <a16:creationId xmlns:a16="http://schemas.microsoft.com/office/drawing/2014/main" id="{0CB02D0F-FDE5-448C-B7DE-990B93BE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本体：对领域语义的明确建模</a:t>
            </a:r>
          </a:p>
        </p:txBody>
      </p:sp>
      <p:sp>
        <p:nvSpPr>
          <p:cNvPr id="5" name="p3-text-45">
            <a:extLst xmlns:a="http://schemas.openxmlformats.org/drawingml/2006/main">
              <a:ext uri="{FF2B5EF4-FFF2-40B4-BE49-F238E27FC236}">
                <a16:creationId xmlns:a16="http://schemas.microsoft.com/office/drawing/2014/main" id="{230B0E00-17FE-4A52-A762-CC83FA28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把业务中默认理解的词语与联系，变成可以共同引用的定义</a:t>
            </a:r>
          </a:p>
        </p:txBody>
      </p:sp>
      <p:sp>
        <p:nvSpPr>
          <p:cNvPr id="6" name="p3-shape-46">
            <a:extLst xmlns:a="http://schemas.openxmlformats.org/drawingml/2006/main">
              <a:ext uri="{FF2B5EF4-FFF2-40B4-BE49-F238E27FC236}">
                <a16:creationId xmlns:a16="http://schemas.microsoft.com/office/drawing/2014/main" id="{0ECEA73E-C4FB-4646-9805-6EB5E0BB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3-text-47">
            <a:extLst xmlns:a="http://schemas.openxmlformats.org/drawingml/2006/main">
              <a:ext uri="{FF2B5EF4-FFF2-40B4-BE49-F238E27FC236}">
                <a16:creationId xmlns:a16="http://schemas.microsoft.com/office/drawing/2014/main" id="{9E42C81D-609D-40FA-9EC4-46AADF74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核心是明确业务含义，并表达当前用途需要的知识</a:t>
            </a:r>
          </a:p>
        </p:txBody>
      </p:sp>
      <p:sp>
        <p:nvSpPr>
          <p:cNvPr id="8" name="p3-text-48">
            <a:extLst xmlns:a="http://schemas.openxmlformats.org/drawingml/2006/main">
              <a:ext uri="{FF2B5EF4-FFF2-40B4-BE49-F238E27FC236}">
                <a16:creationId xmlns:a16="http://schemas.microsoft.com/office/drawing/2014/main" id="{A527D82B-530A-4875-BDA2-599163DD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本演示讨论知识工程中的本体（Ontology）。</a:t>
            </a:r>
          </a:p>
        </p:txBody>
      </p:sp>
      <p:sp>
        <p:nvSpPr>
          <p:cNvPr id="9" name="p3-text-49">
            <a:extLst xmlns:a="http://schemas.openxmlformats.org/drawingml/2006/main">
              <a:ext uri="{FF2B5EF4-FFF2-40B4-BE49-F238E27FC236}">
                <a16:creationId xmlns:a16="http://schemas.microsoft.com/office/drawing/2014/main" id="{954A2E74-E28A-4AAA-9836-2AB6B74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03 / 18</a:t>
            </a:r>
          </a:p>
        </p:txBody>
      </p:sp>
      <p:sp>
        <p:nvSpPr>
          <p:cNvPr id="10" name="p3-text-50">
            <a:extLst xmlns:a="http://schemas.openxmlformats.org/drawingml/2006/main">
              <a:ext uri="{FF2B5EF4-FFF2-40B4-BE49-F238E27FC236}">
                <a16:creationId xmlns:a16="http://schemas.microsoft.com/office/drawing/2014/main" id="{A2B9CFAA-F06D-4488-9A17-2D221CD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16154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050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050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rPr>
              <a:t>本体是对一个领域中概念、关系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4050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050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rPr>
              <a:t>及其语义约定的明确建模。</a:t>
            </a:r>
          </a:p>
        </p:txBody>
      </p:sp>
      <p:sp>
        <p:nvSpPr>
          <p:cNvPr id="11" name="p3-shape-51">
            <a:extLst xmlns:a="http://schemas.openxmlformats.org/drawingml/2006/main">
              <a:ext uri="{FF2B5EF4-FFF2-40B4-BE49-F238E27FC236}">
                <a16:creationId xmlns:a16="http://schemas.microsoft.com/office/drawing/2014/main" id="{807A2B20-2BD8-4D55-A1C1-04E4E496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2" name="p3-text-52">
            <a:extLst xmlns:a="http://schemas.openxmlformats.org/drawingml/2006/main">
              <a:ext uri="{FF2B5EF4-FFF2-40B4-BE49-F238E27FC236}">
                <a16:creationId xmlns:a16="http://schemas.microsoft.com/office/drawing/2014/main" id="{E00714BD-E6BA-4D61-9B73-62D434D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530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有哪些概念</a:t>
            </a:r>
          </a:p>
        </p:txBody>
      </p:sp>
      <p:sp>
        <p:nvSpPr>
          <p:cNvPr id="13" name="p3-text-53">
            <a:extLst xmlns:a="http://schemas.openxmlformats.org/drawingml/2006/main">
              <a:ext uri="{FF2B5EF4-FFF2-40B4-BE49-F238E27FC236}">
                <a16:creationId xmlns:a16="http://schemas.microsoft.com/office/drawing/2014/main" id="{C169E7F2-2DF6-4BB7-85E3-3E47160C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817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员工、部门、差旅申请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分别表示什么？</a:t>
            </a:r>
          </a:p>
        </p:txBody>
      </p:sp>
      <p:sp>
        <p:nvSpPr>
          <p:cNvPr id="14" name="p3-shape-54">
            <a:extLst xmlns:a="http://schemas.openxmlformats.org/drawingml/2006/main">
              <a:ext uri="{FF2B5EF4-FFF2-40B4-BE49-F238E27FC236}">
                <a16:creationId xmlns:a16="http://schemas.microsoft.com/office/drawing/2014/main" id="{AE45D56A-E238-47A5-92D1-63B397C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14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5" name="p3-text-55">
            <a:extLst xmlns:a="http://schemas.openxmlformats.org/drawingml/2006/main">
              <a:ext uri="{FF2B5EF4-FFF2-40B4-BE49-F238E27FC236}">
                <a16:creationId xmlns:a16="http://schemas.microsoft.com/office/drawing/2014/main" id="{60CD1940-260C-493A-8C05-73954FCB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530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怎样关联</a:t>
            </a:r>
          </a:p>
        </p:txBody>
      </p:sp>
      <p:sp>
        <p:nvSpPr>
          <p:cNvPr id="16" name="p3-text-56">
            <a:extLst xmlns:a="http://schemas.openxmlformats.org/drawingml/2006/main">
              <a:ext uri="{FF2B5EF4-FFF2-40B4-BE49-F238E27FC236}">
                <a16:creationId xmlns:a16="http://schemas.microsoft.com/office/drawing/2014/main" id="{41E684A5-ECB2-4ACA-9BBC-5094162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1817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申请人属于哪个部门？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部门由谁负责？</a:t>
            </a:r>
          </a:p>
        </p:txBody>
      </p:sp>
      <p:sp>
        <p:nvSpPr>
          <p:cNvPr id="17" name="p3-shape-57">
            <a:extLst xmlns:a="http://schemas.openxmlformats.org/drawingml/2006/main">
              <a:ext uri="{FF2B5EF4-FFF2-40B4-BE49-F238E27FC236}">
                <a16:creationId xmlns:a16="http://schemas.microsoft.com/office/drawing/2014/main" id="{F79DDE00-E7A8-4B48-A237-E6C11E4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314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8" name="p3-text-58">
            <a:extLst xmlns:a="http://schemas.openxmlformats.org/drawingml/2006/main">
              <a:ext uri="{FF2B5EF4-FFF2-40B4-BE49-F238E27FC236}">
                <a16:creationId xmlns:a16="http://schemas.microsoft.com/office/drawing/2014/main" id="{83C0FEB7-79F8-4C7B-A2B4-B321A094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5530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哪些含义成立</a:t>
            </a:r>
          </a:p>
        </p:txBody>
      </p:sp>
      <p:sp>
        <p:nvSpPr>
          <p:cNvPr id="19" name="p3-text-59">
            <a:extLst xmlns:a="http://schemas.openxmlformats.org/drawingml/2006/main">
              <a:ext uri="{FF2B5EF4-FFF2-40B4-BE49-F238E27FC236}">
                <a16:creationId xmlns:a16="http://schemas.microsoft.com/office/drawing/2014/main" id="{AC51A057-640A-461E-8297-389F8259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1817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经理是一类员工。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审批政策适用于哪类申请？</a:t>
            </a:r>
          </a:p>
        </p:txBody>
      </p:sp>
    </p:spTree>
    <p:extLst>
      <p:ext uri="{BB962C8B-B14F-4D97-AF65-F5344CB8AC3E}">
        <p14:creationId xmlns:p14="http://schemas.microsoft.com/office/powerpoint/2010/main" val="1250825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4-shape-60">
            <a:extLst xmlns:a="http://schemas.openxmlformats.org/drawingml/2006/main">
              <a:ext uri="{FF2B5EF4-FFF2-40B4-BE49-F238E27FC236}">
                <a16:creationId xmlns:a16="http://schemas.microsoft.com/office/drawing/2014/main" id="{D24114C1-6EF9-4ED8-89AE-2BF6E82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4-text-61">
            <a:extLst xmlns:a="http://schemas.openxmlformats.org/drawingml/2006/main">
              <a:ext uri="{FF2B5EF4-FFF2-40B4-BE49-F238E27FC236}">
                <a16:creationId xmlns:a16="http://schemas.microsoft.com/office/drawing/2014/main" id="{BEA8E896-0767-4607-A5E7-66F830DC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4-text-62">
            <a:extLst xmlns:a="http://schemas.openxmlformats.org/drawingml/2006/main">
              <a:ext uri="{FF2B5EF4-FFF2-40B4-BE49-F238E27FC236}">
                <a16:creationId xmlns:a16="http://schemas.microsoft.com/office/drawing/2014/main" id="{93E6DFC6-613F-4D89-822D-F8D91E40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01 / 认识本体</a:t>
            </a:r>
          </a:p>
        </p:txBody>
      </p:sp>
      <p:sp>
        <p:nvSpPr>
          <p:cNvPr id="4" name="p4-title">
            <a:extLst xmlns:a="http://schemas.openxmlformats.org/drawingml/2006/main">
              <a:ext uri="{FF2B5EF4-FFF2-40B4-BE49-F238E27FC236}">
                <a16:creationId xmlns:a16="http://schemas.microsoft.com/office/drawing/2014/main" id="{21C792BD-E042-430D-B32D-D360A90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现实世界、本体、形式表达</a:t>
            </a:r>
          </a:p>
        </p:txBody>
      </p:sp>
      <p:sp>
        <p:nvSpPr>
          <p:cNvPr id="5" name="p4-text-63">
            <a:extLst xmlns:a="http://schemas.openxmlformats.org/drawingml/2006/main">
              <a:ext uri="{FF2B5EF4-FFF2-40B4-BE49-F238E27FC236}">
                <a16:creationId xmlns:a16="http://schemas.microsoft.com/office/drawing/2014/main" id="{D27058F8-896D-4B78-AFB4-49DAAB77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分清我们要理解的对象、建立的模型，以及模型的表达方式</a:t>
            </a:r>
          </a:p>
        </p:txBody>
      </p:sp>
      <p:sp>
        <p:nvSpPr>
          <p:cNvPr id="6" name="p4-shape-64">
            <a:extLst xmlns:a="http://schemas.openxmlformats.org/drawingml/2006/main">
              <a:ext uri="{FF2B5EF4-FFF2-40B4-BE49-F238E27FC236}">
                <a16:creationId xmlns:a16="http://schemas.microsoft.com/office/drawing/2014/main" id="{34918DBD-B023-4EA9-BEDD-1DB32BF4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4-text-65">
            <a:extLst xmlns:a="http://schemas.openxmlformats.org/drawingml/2006/main">
              <a:ext uri="{FF2B5EF4-FFF2-40B4-BE49-F238E27FC236}">
                <a16:creationId xmlns:a16="http://schemas.microsoft.com/office/drawing/2014/main" id="{69696370-5712-49FF-B99E-D2DB22FE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先明确表达什么含义，再选择合适的表达技术</a:t>
            </a:r>
          </a:p>
        </p:txBody>
      </p:sp>
      <p:sp>
        <p:nvSpPr>
          <p:cNvPr id="8" name="p4-text-66">
            <a:extLst xmlns:a="http://schemas.openxmlformats.org/drawingml/2006/main">
              <a:ext uri="{FF2B5EF4-FFF2-40B4-BE49-F238E27FC236}">
                <a16:creationId xmlns:a16="http://schemas.microsoft.com/office/drawing/2014/main" id="{2AF44A6F-7DAD-4912-86A0-FE1C555F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04 / 18</a:t>
            </a:r>
          </a:p>
        </p:txBody>
      </p:sp>
      <p:sp>
        <p:nvSpPr>
          <p:cNvPr id="9" name="p4-shape-67">
            <a:extLst xmlns:a="http://schemas.openxmlformats.org/drawingml/2006/main">
              <a:ext uri="{FF2B5EF4-FFF2-40B4-BE49-F238E27FC236}">
                <a16:creationId xmlns:a16="http://schemas.microsoft.com/office/drawing/2014/main" id="{0B0473CA-D974-4745-B4FA-CB25C067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0" name="p4-text-68">
            <a:extLst xmlns:a="http://schemas.openxmlformats.org/drawingml/2006/main">
              <a:ext uri="{FF2B5EF4-FFF2-40B4-BE49-F238E27FC236}">
                <a16:creationId xmlns:a16="http://schemas.microsoft.com/office/drawing/2014/main" id="{75802F1C-9D9E-4B97-903D-CF6CDDD1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2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现实世界</a:t>
            </a:r>
          </a:p>
        </p:txBody>
      </p:sp>
      <p:sp>
        <p:nvSpPr>
          <p:cNvPr id="11" name="p4-text-69">
            <a:extLst xmlns:a="http://schemas.openxmlformats.org/drawingml/2006/main">
              <a:ext uri="{FF2B5EF4-FFF2-40B4-BE49-F238E27FC236}">
                <a16:creationId xmlns:a16="http://schemas.microsoft.com/office/drawing/2014/main" id="{F178906D-1EB3-4095-8E7C-453EB17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实际发生了什么？</a:t>
            </a:r>
          </a:p>
        </p:txBody>
      </p:sp>
      <p:sp>
        <p:nvSpPr>
          <p:cNvPr id="12" name="p4-shape-70">
            <a:extLst xmlns:a="http://schemas.openxmlformats.org/drawingml/2006/main">
              <a:ext uri="{FF2B5EF4-FFF2-40B4-BE49-F238E27FC236}">
                <a16:creationId xmlns:a16="http://schemas.microsoft.com/office/drawing/2014/main" id="{ADA3782A-E2E6-4B74-A0A3-92BB5299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C7053"/>
            </a:solidFill>
            <a:prstDash val="solid"/>
          </a:ln>
        </p:spPr>
      </p:sp>
      <p:sp>
        <p:nvSpPr>
          <p:cNvPr id="13" name="p4-text-71">
            <a:extLst xmlns:a="http://schemas.openxmlformats.org/drawingml/2006/main">
              <a:ext uri="{FF2B5EF4-FFF2-40B4-BE49-F238E27FC236}">
                <a16:creationId xmlns:a16="http://schemas.microsoft.com/office/drawing/2014/main" id="{8A4200DD-D3B8-4158-A31B-9E26CD1F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2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本体</a:t>
            </a:r>
          </a:p>
        </p:txBody>
      </p:sp>
      <p:sp>
        <p:nvSpPr>
          <p:cNvPr id="14" name="p4-text-72">
            <a:extLst xmlns:a="http://schemas.openxmlformats.org/drawingml/2006/main">
              <a:ext uri="{FF2B5EF4-FFF2-40B4-BE49-F238E27FC236}">
                <a16:creationId xmlns:a16="http://schemas.microsoft.com/office/drawing/2014/main" id="{D7257BF7-9D81-4761-8A8B-2B6D87D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624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我们怎样理解这个领域？</a:t>
            </a:r>
          </a:p>
        </p:txBody>
      </p:sp>
      <p:sp>
        <p:nvSpPr>
          <p:cNvPr id="15" name="p4-shape-73">
            <a:extLst xmlns:a="http://schemas.openxmlformats.org/drawingml/2006/main">
              <a:ext uri="{FF2B5EF4-FFF2-40B4-BE49-F238E27FC236}">
                <a16:creationId xmlns:a16="http://schemas.microsoft.com/office/drawing/2014/main" id="{A675947F-0438-44A0-BE76-2BE5C1A8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1908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6" name="p4-text-74">
            <a:extLst xmlns:a="http://schemas.openxmlformats.org/drawingml/2006/main">
              <a:ext uri="{FF2B5EF4-FFF2-40B4-BE49-F238E27FC236}">
                <a16:creationId xmlns:a16="http://schemas.microsoft.com/office/drawing/2014/main" id="{AF22565C-53AF-4EB6-87C2-8B1EB315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476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2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形式表达</a:t>
            </a:r>
          </a:p>
        </p:txBody>
      </p:sp>
      <p:sp>
        <p:nvSpPr>
          <p:cNvPr id="17" name="p4-text-75">
            <a:extLst xmlns:a="http://schemas.openxmlformats.org/drawingml/2006/main">
              <a:ext uri="{FF2B5EF4-FFF2-40B4-BE49-F238E27FC236}">
                <a16:creationId xmlns:a16="http://schemas.microsoft.com/office/drawing/2014/main" id="{875BCDD6-597A-469B-9384-97FBCB71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1624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怎样明确表达这些含义？</a:t>
            </a:r>
          </a:p>
        </p:txBody>
      </p:sp>
      <p:sp>
        <p:nvSpPr>
          <p:cNvPr id="18" name="p4-shape-76">
            <a:extLst xmlns:a="http://schemas.openxmlformats.org/drawingml/2006/main">
              <a:ext uri="{FF2B5EF4-FFF2-40B4-BE49-F238E27FC236}">
                <a16:creationId xmlns:a16="http://schemas.microsoft.com/office/drawing/2014/main" id="{BCEAFDC1-CE3C-4FEF-9F18-42E912C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19" name="p4-text-77">
            <a:extLst xmlns:a="http://schemas.openxmlformats.org/drawingml/2006/main">
              <a:ext uri="{FF2B5EF4-FFF2-40B4-BE49-F238E27FC236}">
                <a16:creationId xmlns:a16="http://schemas.microsoft.com/office/drawing/2014/main" id="{EDD8A519-8269-46AD-8D34-E19F4BC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5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20" name="p4-text-78">
            <a:extLst xmlns:a="http://schemas.openxmlformats.org/drawingml/2006/main">
              <a:ext uri="{FF2B5EF4-FFF2-40B4-BE49-F238E27FC236}">
                <a16:creationId xmlns:a16="http://schemas.microsoft.com/office/drawing/2014/main" id="{AC130918-9422-480C-89B7-C6B3F63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10275"/>
            <a:ext cx="4000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属于研发部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提交差旅申请 T-101</a:t>
            </a:r>
          </a:p>
        </p:txBody>
      </p:sp>
      <p:sp>
        <p:nvSpPr>
          <p:cNvPr id="21" name="p4-shape-79">
            <a:extLst xmlns:a="http://schemas.openxmlformats.org/drawingml/2006/main">
              <a:ext uri="{FF2B5EF4-FFF2-40B4-BE49-F238E27FC236}">
                <a16:creationId xmlns:a16="http://schemas.microsoft.com/office/drawing/2014/main" id="{690D511D-0873-482D-B841-E3415C0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9675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4-text-80">
            <a:extLst xmlns:a="http://schemas.openxmlformats.org/drawingml/2006/main">
              <a:ext uri="{FF2B5EF4-FFF2-40B4-BE49-F238E27FC236}">
                <a16:creationId xmlns:a16="http://schemas.microsoft.com/office/drawing/2014/main" id="{31FE28D0-79F1-4298-BFE5-AB8CB283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625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员工 · 部门 · 申请</a:t>
            </a:r>
          </a:p>
        </p:txBody>
      </p:sp>
      <p:sp>
        <p:nvSpPr>
          <p:cNvPr id="23" name="p4-text-81">
            <a:extLst xmlns:a="http://schemas.openxmlformats.org/drawingml/2006/main">
              <a:ext uri="{FF2B5EF4-FFF2-40B4-BE49-F238E27FC236}">
                <a16:creationId xmlns:a16="http://schemas.microsoft.com/office/drawing/2014/main" id="{5D286095-AA98-4239-9680-5503C6E0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10275"/>
            <a:ext cx="4095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概念、关系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及其语义约定</a:t>
            </a:r>
          </a:p>
        </p:txBody>
      </p:sp>
      <p:sp>
        <p:nvSpPr>
          <p:cNvPr id="24" name="p4-shape-82">
            <a:extLst xmlns:a="http://schemas.openxmlformats.org/drawingml/2006/main">
              <a:ext uri="{FF2B5EF4-FFF2-40B4-BE49-F238E27FC236}">
                <a16:creationId xmlns:a16="http://schemas.microsoft.com/office/drawing/2014/main" id="{40E5F77A-8141-4AF3-BB11-7158BD7D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01967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25" name="p4-text-83">
            <a:extLst xmlns:a="http://schemas.openxmlformats.org/drawingml/2006/main">
              <a:ext uri="{FF2B5EF4-FFF2-40B4-BE49-F238E27FC236}">
                <a16:creationId xmlns:a16="http://schemas.microsoft.com/office/drawing/2014/main" id="{22D31763-C861-45F5-873E-D485189A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3625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RDF / OWL</a:t>
            </a:r>
          </a:p>
        </p:txBody>
      </p:sp>
      <p:sp>
        <p:nvSpPr>
          <p:cNvPr id="26" name="p4-text-84">
            <a:extLst xmlns:a="http://schemas.openxmlformats.org/drawingml/2006/main">
              <a:ext uri="{FF2B5EF4-FFF2-40B4-BE49-F238E27FC236}">
                <a16:creationId xmlns:a16="http://schemas.microsoft.com/office/drawing/2014/main" id="{92886828-F1CA-4B55-A32E-33A42C20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010275"/>
            <a:ext cx="4095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或其他约定的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表达方式</a:t>
            </a:r>
          </a:p>
        </p:txBody>
      </p:sp>
      <p:sp>
        <p:nvSpPr>
          <p:cNvPr id="27" name="p4-text-85">
            <a:extLst xmlns:a="http://schemas.openxmlformats.org/drawingml/2006/main">
              <a:ext uri="{FF2B5EF4-FFF2-40B4-BE49-F238E27FC236}">
                <a16:creationId xmlns:a16="http://schemas.microsoft.com/office/drawing/2014/main" id="{8178049A-C7F5-4A30-8114-6355EAEC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0867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观察与抽象</a:t>
            </a:r>
          </a:p>
        </p:txBody>
      </p:sp>
      <p:sp>
        <p:nvSpPr>
          <p:cNvPr id="28" name="p4-text-86">
            <a:extLst xmlns:a="http://schemas.openxmlformats.org/drawingml/2006/main">
              <a:ext uri="{FF2B5EF4-FFF2-40B4-BE49-F238E27FC236}">
                <a16:creationId xmlns:a16="http://schemas.microsoft.com/office/drawing/2014/main" id="{A8DF3911-D15F-4039-9ED1-1810EE9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867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编码与表达</a:t>
            </a:r>
          </a:p>
        </p:txBody>
      </p:sp>
      <p:sp>
        <p:nvSpPr>
          <p:cNvPr id="29" name="p4-shape-87">
            <a:extLst xmlns:a="http://schemas.openxmlformats.org/drawingml/2006/main">
              <a:ext uri="{FF2B5EF4-FFF2-40B4-BE49-F238E27FC236}">
                <a16:creationId xmlns:a16="http://schemas.microsoft.com/office/drawing/2014/main" id="{2E8990D9-F402-4B1A-8EFB-90D429BD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0" y="79819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30" name="p4-shape-88">
            <a:extLst xmlns:a="http://schemas.openxmlformats.org/drawingml/2006/main">
              <a:ext uri="{FF2B5EF4-FFF2-40B4-BE49-F238E27FC236}">
                <a16:creationId xmlns:a16="http://schemas.microsoft.com/office/drawing/2014/main" id="{6B1AC6A8-6753-4F88-A83E-2F0DAAA8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239500" y="79819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7225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5-shape-89">
            <a:extLst xmlns:a="http://schemas.openxmlformats.org/drawingml/2006/main">
              <a:ext uri="{FF2B5EF4-FFF2-40B4-BE49-F238E27FC236}">
                <a16:creationId xmlns:a16="http://schemas.microsoft.com/office/drawing/2014/main" id="{3C1E3D4C-701F-4270-A1CC-97A21CE7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5-text-90">
            <a:extLst xmlns:a="http://schemas.openxmlformats.org/drawingml/2006/main">
              <a:ext uri="{FF2B5EF4-FFF2-40B4-BE49-F238E27FC236}">
                <a16:creationId xmlns:a16="http://schemas.microsoft.com/office/drawing/2014/main" id="{C9AFBF56-B672-4FDA-BD7C-418A64B6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5-text-91">
            <a:extLst xmlns:a="http://schemas.openxmlformats.org/drawingml/2006/main">
              <a:ext uri="{FF2B5EF4-FFF2-40B4-BE49-F238E27FC236}">
                <a16:creationId xmlns:a16="http://schemas.microsoft.com/office/drawing/2014/main" id="{C951C208-9A0E-448C-AA2F-2E37B8A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01 / 认识本体</a:t>
            </a:r>
          </a:p>
        </p:txBody>
      </p:sp>
      <p:sp>
        <p:nvSpPr>
          <p:cNvPr id="4" name="p5-title">
            <a:extLst xmlns:a="http://schemas.openxmlformats.org/drawingml/2006/main">
              <a:ext uri="{FF2B5EF4-FFF2-40B4-BE49-F238E27FC236}">
                <a16:creationId xmlns:a16="http://schemas.microsoft.com/office/drawing/2014/main" id="{79DF7DCB-3261-4BD6-97FB-299C0D2E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本体的常见组成</a:t>
            </a:r>
          </a:p>
        </p:txBody>
      </p:sp>
      <p:sp>
        <p:nvSpPr>
          <p:cNvPr id="5" name="p5-text-92">
            <a:extLst xmlns:a="http://schemas.openxmlformats.org/drawingml/2006/main">
              <a:ext uri="{FF2B5EF4-FFF2-40B4-BE49-F238E27FC236}">
                <a16:creationId xmlns:a16="http://schemas.microsoft.com/office/drawing/2014/main" id="{38DA8278-6749-4373-823C-26F5917F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在同一张模型中认识类、属性、关系、公理与个体</a:t>
            </a:r>
          </a:p>
        </p:txBody>
      </p:sp>
      <p:sp>
        <p:nvSpPr>
          <p:cNvPr id="6" name="p5-shape-93">
            <a:extLst xmlns:a="http://schemas.openxmlformats.org/drawingml/2006/main">
              <a:ext uri="{FF2B5EF4-FFF2-40B4-BE49-F238E27FC236}">
                <a16:creationId xmlns:a16="http://schemas.microsoft.com/office/drawing/2014/main" id="{87CC65EC-04C3-45E9-A4EE-7A043011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5-text-94">
            <a:extLst xmlns:a="http://schemas.openxmlformats.org/drawingml/2006/main">
              <a:ext uri="{FF2B5EF4-FFF2-40B4-BE49-F238E27FC236}">
                <a16:creationId xmlns:a16="http://schemas.microsoft.com/office/drawing/2014/main" id="{5113EA2A-DE2F-4290-BEAB-2CA5083F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按用途选取需要的内容，重点在于把领域语义说清楚</a:t>
            </a:r>
          </a:p>
        </p:txBody>
      </p:sp>
      <p:sp>
        <p:nvSpPr>
          <p:cNvPr id="8" name="p5-text-95">
            <a:extLst xmlns:a="http://schemas.openxmlformats.org/drawingml/2006/main">
              <a:ext uri="{FF2B5EF4-FFF2-40B4-BE49-F238E27FC236}">
                <a16:creationId xmlns:a16="http://schemas.microsoft.com/office/drawing/2014/main" id="{6113FD6D-D1E9-40A2-8103-984791EF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教学上分列属性与关系；OWL 中，对象关系通常也属于 Property。</a:t>
            </a:r>
          </a:p>
        </p:txBody>
      </p:sp>
      <p:sp>
        <p:nvSpPr>
          <p:cNvPr id="9" name="p5-text-96">
            <a:extLst xmlns:a="http://schemas.openxmlformats.org/drawingml/2006/main">
              <a:ext uri="{FF2B5EF4-FFF2-40B4-BE49-F238E27FC236}">
                <a16:creationId xmlns:a16="http://schemas.microsoft.com/office/drawing/2014/main" id="{7A64BB71-DF69-4023-83E8-642F6E0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05 / 18</a:t>
            </a:r>
          </a:p>
        </p:txBody>
      </p:sp>
      <p:sp>
        <p:nvSpPr>
          <p:cNvPr id="10" name="p5-shape-97">
            <a:extLst xmlns:a="http://schemas.openxmlformats.org/drawingml/2006/main">
              <a:ext uri="{FF2B5EF4-FFF2-40B4-BE49-F238E27FC236}">
                <a16:creationId xmlns:a16="http://schemas.microsoft.com/office/drawing/2014/main" id="{783FBCF4-9AFF-4487-A9E3-41743250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38525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1" name="p5-text-98">
            <a:extLst xmlns:a="http://schemas.openxmlformats.org/drawingml/2006/main">
              <a:ext uri="{FF2B5EF4-FFF2-40B4-BE49-F238E27FC236}">
                <a16:creationId xmlns:a16="http://schemas.microsoft.com/office/drawing/2014/main" id="{88F6EDAE-421A-4451-8C90-23AD923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16643"/>
            <a:ext cx="2057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经理</a:t>
            </a:r>
          </a:p>
        </p:txBody>
      </p:sp>
      <p:sp>
        <p:nvSpPr>
          <p:cNvPr id="12" name="p5-shape-99">
            <a:extLst xmlns:a="http://schemas.openxmlformats.org/drawingml/2006/main">
              <a:ext uri="{FF2B5EF4-FFF2-40B4-BE49-F238E27FC236}">
                <a16:creationId xmlns:a16="http://schemas.microsoft.com/office/drawing/2014/main" id="{516C70C3-CC30-4581-A25E-B7E6FDF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3" name="p5-text-100">
            <a:extLst xmlns:a="http://schemas.openxmlformats.org/drawingml/2006/main">
              <a:ext uri="{FF2B5EF4-FFF2-40B4-BE49-F238E27FC236}">
                <a16:creationId xmlns:a16="http://schemas.microsoft.com/office/drawing/2014/main" id="{3456911B-B8C0-476B-B4CD-2256408D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69268"/>
            <a:ext cx="2057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员工</a:t>
            </a:r>
          </a:p>
        </p:txBody>
      </p:sp>
      <p:sp>
        <p:nvSpPr>
          <p:cNvPr id="14" name="p5-shape-101">
            <a:extLst xmlns:a="http://schemas.openxmlformats.org/drawingml/2006/main">
              <a:ext uri="{FF2B5EF4-FFF2-40B4-BE49-F238E27FC236}">
                <a16:creationId xmlns:a16="http://schemas.microsoft.com/office/drawing/2014/main" id="{89196ED3-6D5C-4677-A668-C760C48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5" name="p5-text-102">
            <a:extLst xmlns:a="http://schemas.openxmlformats.org/drawingml/2006/main">
              <a:ext uri="{FF2B5EF4-FFF2-40B4-BE49-F238E27FC236}">
                <a16:creationId xmlns:a16="http://schemas.microsoft.com/office/drawing/2014/main" id="{1231CA70-AD8C-4144-98E9-95291699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69268"/>
            <a:ext cx="22479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部门</a:t>
            </a:r>
          </a:p>
        </p:txBody>
      </p:sp>
      <p:sp>
        <p:nvSpPr>
          <p:cNvPr id="16" name="p5-shape-103">
            <a:extLst xmlns:a="http://schemas.openxmlformats.org/drawingml/2006/main">
              <a:ext uri="{FF2B5EF4-FFF2-40B4-BE49-F238E27FC236}">
                <a16:creationId xmlns:a16="http://schemas.microsoft.com/office/drawing/2014/main" id="{2C95645F-2C26-470F-9CB2-A7C4EE1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477125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5-text-104">
            <a:extLst xmlns:a="http://schemas.openxmlformats.org/drawingml/2006/main">
              <a:ext uri="{FF2B5EF4-FFF2-40B4-BE49-F238E27FC236}">
                <a16:creationId xmlns:a16="http://schemas.microsoft.com/office/drawing/2014/main" id="{AD7FF73F-C9F5-4D94-B048-36806DCC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655243"/>
            <a:ext cx="2057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18" name="p5-shape-105">
            <a:extLst xmlns:a="http://schemas.openxmlformats.org/drawingml/2006/main">
              <a:ext uri="{FF2B5EF4-FFF2-40B4-BE49-F238E27FC236}">
                <a16:creationId xmlns:a16="http://schemas.microsoft.com/office/drawing/2014/main" id="{036DB235-0566-4D4A-A68A-91F2C93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747712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5-text-106">
            <a:extLst xmlns:a="http://schemas.openxmlformats.org/drawingml/2006/main">
              <a:ext uri="{FF2B5EF4-FFF2-40B4-BE49-F238E27FC236}">
                <a16:creationId xmlns:a16="http://schemas.microsoft.com/office/drawing/2014/main" id="{8167EB00-93BB-4B86-91B2-9407D5BD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655243"/>
            <a:ext cx="22479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研发部</a:t>
            </a:r>
          </a:p>
        </p:txBody>
      </p:sp>
      <p:cxnSp>
        <p:nvCxnSpPr>
          <p:cNvPr id="65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048000" y="424815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dash"/>
            <a:tailEnd type="triangle" w="med" len="med"/>
          </a:ln>
        </p:spPr>
      </p:cxnSp>
      <p:sp>
        <p:nvSpPr>
          <p:cNvPr id="21" name="p5-text-107">
            <a:extLst xmlns:a="http://schemas.openxmlformats.org/drawingml/2006/main">
              <a:ext uri="{FF2B5EF4-FFF2-40B4-BE49-F238E27FC236}">
                <a16:creationId xmlns:a16="http://schemas.microsoft.com/office/drawing/2014/main" id="{F59D3EC6-2754-428B-8AA3-BEFDF5B7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29150"/>
            <a:ext cx="1857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是一种</a:t>
            </a:r>
          </a:p>
        </p:txBody>
      </p: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91000" y="5795963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3" name="p5-text-108">
            <a:extLst xmlns:a="http://schemas.openxmlformats.org/drawingml/2006/main">
              <a:ext uri="{FF2B5EF4-FFF2-40B4-BE49-F238E27FC236}">
                <a16:creationId xmlns:a16="http://schemas.microsoft.com/office/drawing/2014/main" id="{03C80647-226E-40F0-A551-C2628F1B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91175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隶属于</a:t>
            </a:r>
          </a:p>
        </p:txBody>
      </p:sp>
      <p:cxnSp>
        <p:nvCxnSpPr>
          <p:cNvPr id="69" name=""/>
          <p:cNvCxnSpPr>
            <a:stCxn xmlns:a="http://schemas.openxmlformats.org/drawingml/2006/main" id="16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3048000" y="6200775"/>
            <a:ext cx="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dash"/>
            <a:tailEnd type="triangle" w="med" len="med"/>
          </a:ln>
        </p:spPr>
      </p:cxnSp>
      <p:sp>
        <p:nvSpPr>
          <p:cNvPr id="25" name="p5-text-109">
            <a:extLst xmlns:a="http://schemas.openxmlformats.org/drawingml/2006/main">
              <a:ext uri="{FF2B5EF4-FFF2-40B4-BE49-F238E27FC236}">
                <a16:creationId xmlns:a16="http://schemas.microsoft.com/office/drawing/2014/main" id="{D7FB9987-E643-49DC-B194-DAE1A59F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715125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属于这个类</a:t>
            </a:r>
          </a:p>
        </p:txBody>
      </p:sp>
      <p:cxnSp>
        <p:nvCxnSpPr>
          <p:cNvPr id="71" name=""/>
          <p:cNvCxnSpPr>
            <a:stCxn xmlns:a="http://schemas.openxmlformats.org/drawingml/2006/main" id="18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8001000" y="6200775"/>
            <a:ext cx="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dash"/>
            <a:tailEnd type="triangle" w="med" len="med"/>
          </a:ln>
        </p:spPr>
      </p:cxnSp>
      <p:sp>
        <p:nvSpPr>
          <p:cNvPr id="27" name="p5-text-110">
            <a:extLst xmlns:a="http://schemas.openxmlformats.org/drawingml/2006/main">
              <a:ext uri="{FF2B5EF4-FFF2-40B4-BE49-F238E27FC236}">
                <a16:creationId xmlns:a16="http://schemas.microsoft.com/office/drawing/2014/main" id="{4EE456E7-81C7-47AF-8B04-C1254F10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715125"/>
            <a:ext cx="2238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属于这个类</a:t>
            </a:r>
          </a:p>
        </p:txBody>
      </p:sp>
      <p:cxnSp>
        <p:nvCxnSpPr>
          <p:cNvPr id="73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191000" y="7881938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9" name="p5-text-111">
            <a:extLst xmlns:a="http://schemas.openxmlformats.org/drawingml/2006/main">
              <a:ext uri="{FF2B5EF4-FFF2-40B4-BE49-F238E27FC236}">
                <a16:creationId xmlns:a16="http://schemas.microsoft.com/office/drawing/2014/main" id="{E5FA58DA-2B0E-4A53-A317-9C9EFA8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67715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隶属于</a:t>
            </a:r>
          </a:p>
        </p:txBody>
      </p:sp>
      <p:sp>
        <p:nvSpPr>
          <p:cNvPr id="30" name="p5-text-112">
            <a:extLst xmlns:a="http://schemas.openxmlformats.org/drawingml/2006/main">
              <a:ext uri="{FF2B5EF4-FFF2-40B4-BE49-F238E27FC236}">
                <a16:creationId xmlns:a16="http://schemas.microsoft.com/office/drawing/2014/main" id="{3617C3F8-5538-4139-85A4-9A4D4231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员工的属性：姓名、入职时间</a:t>
            </a:r>
          </a:p>
        </p:txBody>
      </p:sp>
      <p:sp>
        <p:nvSpPr>
          <p:cNvPr id="31" name="p5-shape-113">
            <a:extLst xmlns:a="http://schemas.openxmlformats.org/drawingml/2006/main">
              <a:ext uri="{FF2B5EF4-FFF2-40B4-BE49-F238E27FC236}">
                <a16:creationId xmlns:a16="http://schemas.microsoft.com/office/drawing/2014/main" id="{8B1D986F-033F-4DD6-A8A3-FEF3F5EC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0992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32" name="p5-text-114">
            <a:extLst xmlns:a="http://schemas.openxmlformats.org/drawingml/2006/main">
              <a:ext uri="{FF2B5EF4-FFF2-40B4-BE49-F238E27FC236}">
                <a16:creationId xmlns:a16="http://schemas.microsoft.com/office/drawing/2014/main" id="{1F76A940-E6A7-4308-865B-972A72B9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81375"/>
            <a:ext cx="664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类 Class</a:t>
            </a:r>
          </a:p>
        </p:txBody>
      </p:sp>
      <p:sp>
        <p:nvSpPr>
          <p:cNvPr id="33" name="p5-text-115">
            <a:extLst xmlns:a="http://schemas.openxmlformats.org/drawingml/2006/main">
              <a:ext uri="{FF2B5EF4-FFF2-40B4-BE49-F238E27FC236}">
                <a16:creationId xmlns:a16="http://schemas.microsoft.com/office/drawing/2014/main" id="{17BF8B6B-6783-4711-A06D-34B00E80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00475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员工、部门：概念及类别</a:t>
            </a:r>
          </a:p>
        </p:txBody>
      </p:sp>
      <p:sp>
        <p:nvSpPr>
          <p:cNvPr id="34" name="p5-shape-116">
            <a:extLst xmlns:a="http://schemas.openxmlformats.org/drawingml/2006/main">
              <a:ext uri="{FF2B5EF4-FFF2-40B4-BE49-F238E27FC236}">
                <a16:creationId xmlns:a16="http://schemas.microsoft.com/office/drawing/2014/main" id="{9E824AE0-F53E-4127-B4CD-62CB5CC2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6720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CBF"/>
            </a:solidFill>
            <a:prstDash val="solid"/>
          </a:ln>
        </p:spPr>
      </p:sp>
      <p:sp>
        <p:nvSpPr>
          <p:cNvPr id="35" name="p5-text-117">
            <a:extLst xmlns:a="http://schemas.openxmlformats.org/drawingml/2006/main">
              <a:ext uri="{FF2B5EF4-FFF2-40B4-BE49-F238E27FC236}">
                <a16:creationId xmlns:a16="http://schemas.microsoft.com/office/drawing/2014/main" id="{F49540CF-2949-4B7B-8B41-1982B0B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38650"/>
            <a:ext cx="664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属性 Property</a:t>
            </a:r>
          </a:p>
        </p:txBody>
      </p:sp>
      <p:sp>
        <p:nvSpPr>
          <p:cNvPr id="36" name="p5-text-118">
            <a:extLst xmlns:a="http://schemas.openxmlformats.org/drawingml/2006/main">
              <a:ext uri="{FF2B5EF4-FFF2-40B4-BE49-F238E27FC236}">
                <a16:creationId xmlns:a16="http://schemas.microsoft.com/office/drawing/2014/main" id="{9AC94CBF-947A-4876-BCF5-2AEABEB8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577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姓名、入职时间：对象的特征</a:t>
            </a:r>
          </a:p>
        </p:txBody>
      </p:sp>
      <p:sp>
        <p:nvSpPr>
          <p:cNvPr id="37" name="p5-shape-119">
            <a:extLst xmlns:a="http://schemas.openxmlformats.org/drawingml/2006/main">
              <a:ext uri="{FF2B5EF4-FFF2-40B4-BE49-F238E27FC236}">
                <a16:creationId xmlns:a16="http://schemas.microsoft.com/office/drawing/2014/main" id="{BBA83CAA-5BC8-442E-BEA5-D2EA2505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244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CBF"/>
            </a:solidFill>
            <a:prstDash val="solid"/>
          </a:ln>
        </p:spPr>
      </p:sp>
      <p:sp>
        <p:nvSpPr>
          <p:cNvPr id="38" name="p5-text-120">
            <a:extLst xmlns:a="http://schemas.openxmlformats.org/drawingml/2006/main">
              <a:ext uri="{FF2B5EF4-FFF2-40B4-BE49-F238E27FC236}">
                <a16:creationId xmlns:a16="http://schemas.microsoft.com/office/drawing/2014/main" id="{F35EE5FC-EF66-4473-B7E6-B32F8E31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95925"/>
            <a:ext cx="664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关系 Relation</a:t>
            </a:r>
          </a:p>
        </p:txBody>
      </p:sp>
      <p:sp>
        <p:nvSpPr>
          <p:cNvPr id="39" name="p5-text-121">
            <a:extLst xmlns:a="http://schemas.openxmlformats.org/drawingml/2006/main">
              <a:ext uri="{FF2B5EF4-FFF2-40B4-BE49-F238E27FC236}">
                <a16:creationId xmlns:a16="http://schemas.microsoft.com/office/drawing/2014/main" id="{F3EA00B0-7AF1-4F9B-A2AC-FFE7F048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15025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隶属于：对象之间的联系</a:t>
            </a:r>
          </a:p>
        </p:txBody>
      </p:sp>
      <p:sp>
        <p:nvSpPr>
          <p:cNvPr id="40" name="p5-shape-122">
            <a:extLst xmlns:a="http://schemas.openxmlformats.org/drawingml/2006/main">
              <a:ext uri="{FF2B5EF4-FFF2-40B4-BE49-F238E27FC236}">
                <a16:creationId xmlns:a16="http://schemas.microsoft.com/office/drawing/2014/main" id="{150F8115-47ED-4D4A-9C39-D8DA4D04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CBF"/>
            </a:solidFill>
            <a:prstDash val="solid"/>
          </a:ln>
        </p:spPr>
      </p:sp>
      <p:sp>
        <p:nvSpPr>
          <p:cNvPr id="41" name="p5-text-123">
            <a:extLst xmlns:a="http://schemas.openxmlformats.org/drawingml/2006/main">
              <a:ext uri="{FF2B5EF4-FFF2-40B4-BE49-F238E27FC236}">
                <a16:creationId xmlns:a16="http://schemas.microsoft.com/office/drawing/2014/main" id="{225D9C1B-41DC-4F0A-8F28-AC067F1A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664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公理 Axiom</a:t>
            </a:r>
          </a:p>
        </p:txBody>
      </p:sp>
      <p:sp>
        <p:nvSpPr>
          <p:cNvPr id="42" name="p5-text-124">
            <a:extLst xmlns:a="http://schemas.openxmlformats.org/drawingml/2006/main">
              <a:ext uri="{FF2B5EF4-FFF2-40B4-BE49-F238E27FC236}">
                <a16:creationId xmlns:a16="http://schemas.microsoft.com/office/drawing/2014/main" id="{CC89A723-26E4-4AE9-9738-A14F45AA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97230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经理是一类员工：逻辑断言</a:t>
            </a:r>
          </a:p>
        </p:txBody>
      </p:sp>
      <p:sp>
        <p:nvSpPr>
          <p:cNvPr id="43" name="p5-shape-125">
            <a:extLst xmlns:a="http://schemas.openxmlformats.org/drawingml/2006/main">
              <a:ext uri="{FF2B5EF4-FFF2-40B4-BE49-F238E27FC236}">
                <a16:creationId xmlns:a16="http://schemas.microsoft.com/office/drawing/2014/main" id="{9D5BF136-1FB1-44A0-93CD-11569B20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43902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CBF"/>
            </a:solidFill>
            <a:prstDash val="solid"/>
          </a:ln>
        </p:spPr>
      </p:sp>
      <p:sp>
        <p:nvSpPr>
          <p:cNvPr id="44" name="p5-text-126">
            <a:extLst xmlns:a="http://schemas.openxmlformats.org/drawingml/2006/main">
              <a:ext uri="{FF2B5EF4-FFF2-40B4-BE49-F238E27FC236}">
                <a16:creationId xmlns:a16="http://schemas.microsoft.com/office/drawing/2014/main" id="{D749512F-7C07-4646-B722-6E23064F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610475"/>
            <a:ext cx="664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个体 Individual</a:t>
            </a:r>
          </a:p>
        </p:txBody>
      </p:sp>
      <p:sp>
        <p:nvSpPr>
          <p:cNvPr id="45" name="p5-text-127">
            <a:extLst xmlns:a="http://schemas.openxmlformats.org/drawingml/2006/main">
              <a:ext uri="{FF2B5EF4-FFF2-40B4-BE49-F238E27FC236}">
                <a16:creationId xmlns:a16="http://schemas.microsoft.com/office/drawing/2014/main" id="{A6587A0E-94A2-43FA-9836-45AAAFF1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029575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张三、研发部：具体对象</a:t>
            </a:r>
          </a:p>
        </p:txBody>
      </p:sp>
    </p:spTree>
    <p:extLst>
      <p:ext uri="{BB962C8B-B14F-4D97-AF65-F5344CB8AC3E}">
        <p14:creationId xmlns:p14="http://schemas.microsoft.com/office/powerpoint/2010/main" val="1508962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6-shape-128">
            <a:extLst xmlns:a="http://schemas.openxmlformats.org/drawingml/2006/main">
              <a:ext uri="{FF2B5EF4-FFF2-40B4-BE49-F238E27FC236}">
                <a16:creationId xmlns:a16="http://schemas.microsoft.com/office/drawing/2014/main" id="{C9DA1CD5-ECC4-468A-896E-041491D3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6-text-129">
            <a:extLst xmlns:a="http://schemas.openxmlformats.org/drawingml/2006/main">
              <a:ext uri="{FF2B5EF4-FFF2-40B4-BE49-F238E27FC236}">
                <a16:creationId xmlns:a16="http://schemas.microsoft.com/office/drawing/2014/main" id="{103F3713-8F71-4A4F-9496-A249B7AA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6-text-130">
            <a:extLst xmlns:a="http://schemas.openxmlformats.org/drawingml/2006/main">
              <a:ext uri="{FF2B5EF4-FFF2-40B4-BE49-F238E27FC236}">
                <a16:creationId xmlns:a16="http://schemas.microsoft.com/office/drawing/2014/main" id="{2EE66AA1-9B64-43A0-8CE0-9E7DC412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01 / 认识本体</a:t>
            </a:r>
          </a:p>
        </p:txBody>
      </p:sp>
      <p:sp>
        <p:nvSpPr>
          <p:cNvPr id="4" name="p6-title">
            <a:extLst xmlns:a="http://schemas.openxmlformats.org/drawingml/2006/main">
              <a:ext uri="{FF2B5EF4-FFF2-40B4-BE49-F238E27FC236}">
                <a16:creationId xmlns:a16="http://schemas.microsoft.com/office/drawing/2014/main" id="{2F5F01BE-08C9-4471-9AD3-276E3A63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“员工”与“张三”处在不同层次</a:t>
            </a:r>
          </a:p>
        </p:txBody>
      </p:sp>
      <p:sp>
        <p:nvSpPr>
          <p:cNvPr id="5" name="p6-text-131">
            <a:extLst xmlns:a="http://schemas.openxmlformats.org/drawingml/2006/main">
              <a:ext uri="{FF2B5EF4-FFF2-40B4-BE49-F238E27FC236}">
                <a16:creationId xmlns:a16="http://schemas.microsoft.com/office/drawing/2014/main" id="{4D503201-BD16-4B36-8390-3EB2348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一般定义能够被许多具体对象重复使用</a:t>
            </a:r>
          </a:p>
        </p:txBody>
      </p:sp>
      <p:sp>
        <p:nvSpPr>
          <p:cNvPr id="6" name="p6-shape-132">
            <a:extLst xmlns:a="http://schemas.openxmlformats.org/drawingml/2006/main">
              <a:ext uri="{FF2B5EF4-FFF2-40B4-BE49-F238E27FC236}">
                <a16:creationId xmlns:a16="http://schemas.microsoft.com/office/drawing/2014/main" id="{CBC04D58-598C-4AEE-AA14-23356CCD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6-text-133">
            <a:extLst xmlns:a="http://schemas.openxmlformats.org/drawingml/2006/main">
              <a:ext uri="{FF2B5EF4-FFF2-40B4-BE49-F238E27FC236}">
                <a16:creationId xmlns:a16="http://schemas.microsoft.com/office/drawing/2014/main" id="{2AA1A258-4269-4060-A4A4-E4A7A3ED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组织里的具体人员可以变化，概念和关系的含义仍可复用</a:t>
            </a:r>
          </a:p>
        </p:txBody>
      </p:sp>
      <p:sp>
        <p:nvSpPr>
          <p:cNvPr id="8" name="p6-text-134">
            <a:extLst xmlns:a="http://schemas.openxmlformats.org/drawingml/2006/main">
              <a:ext uri="{FF2B5EF4-FFF2-40B4-BE49-F238E27FC236}">
                <a16:creationId xmlns:a16="http://schemas.microsoft.com/office/drawing/2014/main" id="{823F3F33-D780-41A2-8120-8EEB6F10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个体可按需纳入；本体建设不要求复制全部业务数据。</a:t>
            </a:r>
          </a:p>
        </p:txBody>
      </p:sp>
      <p:sp>
        <p:nvSpPr>
          <p:cNvPr id="9" name="p6-text-135">
            <a:extLst xmlns:a="http://schemas.openxmlformats.org/drawingml/2006/main">
              <a:ext uri="{FF2B5EF4-FFF2-40B4-BE49-F238E27FC236}">
                <a16:creationId xmlns:a16="http://schemas.microsoft.com/office/drawing/2014/main" id="{6EC3EACD-0B88-4D6E-A5F2-857C210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06 / 18</a:t>
            </a:r>
          </a:p>
        </p:txBody>
      </p:sp>
      <p:sp>
        <p:nvSpPr>
          <p:cNvPr id="10" name="p6-text-136">
            <a:extLst xmlns:a="http://schemas.openxmlformats.org/drawingml/2006/main">
              <a:ext uri="{FF2B5EF4-FFF2-40B4-BE49-F238E27FC236}">
                <a16:creationId xmlns:a16="http://schemas.microsoft.com/office/drawing/2014/main" id="{7E6D896F-B147-4A85-8963-89067633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一般定义</a:t>
            </a:r>
          </a:p>
        </p:txBody>
      </p:sp>
      <p:sp>
        <p:nvSpPr>
          <p:cNvPr id="11" name="p6-text-137">
            <a:extLst xmlns:a="http://schemas.openxmlformats.org/drawingml/2006/main">
              <a:ext uri="{FF2B5EF4-FFF2-40B4-BE49-F238E27FC236}">
                <a16:creationId xmlns:a16="http://schemas.microsoft.com/office/drawing/2014/main" id="{9C4362DA-216B-48FB-A21D-2BAD44F7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198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具体事实</a:t>
            </a:r>
          </a:p>
        </p:txBody>
      </p:sp>
      <p:sp>
        <p:nvSpPr>
          <p:cNvPr id="12" name="p6-shape-138">
            <a:extLst xmlns:a="http://schemas.openxmlformats.org/drawingml/2006/main">
              <a:ext uri="{FF2B5EF4-FFF2-40B4-BE49-F238E27FC236}">
                <a16:creationId xmlns:a16="http://schemas.microsoft.com/office/drawing/2014/main" id="{9F82018E-66B3-4E83-B5E0-CD2E0078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13" name="p6-shape-139">
            <a:extLst xmlns:a="http://schemas.openxmlformats.org/drawingml/2006/main">
              <a:ext uri="{FF2B5EF4-FFF2-40B4-BE49-F238E27FC236}">
                <a16:creationId xmlns:a16="http://schemas.microsoft.com/office/drawing/2014/main" id="{B72B94E4-C48E-42F3-AB20-944107B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766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4" name="p6-text-140">
            <a:extLst xmlns:a="http://schemas.openxmlformats.org/drawingml/2006/main">
              <a:ext uri="{FF2B5EF4-FFF2-40B4-BE49-F238E27FC236}">
                <a16:creationId xmlns:a16="http://schemas.microsoft.com/office/drawing/2014/main" id="{D991217E-4868-4AB7-8007-A97931B4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49993"/>
            <a:ext cx="26289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员工</a:t>
            </a:r>
          </a:p>
        </p:txBody>
      </p:sp>
      <p:sp>
        <p:nvSpPr>
          <p:cNvPr id="15" name="p6-shape-141">
            <a:extLst xmlns:a="http://schemas.openxmlformats.org/drawingml/2006/main">
              <a:ext uri="{FF2B5EF4-FFF2-40B4-BE49-F238E27FC236}">
                <a16:creationId xmlns:a16="http://schemas.microsoft.com/office/drawing/2014/main" id="{764FF32F-5416-4A2A-957B-D5681FF9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6" name="p6-text-142">
            <a:extLst xmlns:a="http://schemas.openxmlformats.org/drawingml/2006/main">
              <a:ext uri="{FF2B5EF4-FFF2-40B4-BE49-F238E27FC236}">
                <a16:creationId xmlns:a16="http://schemas.microsoft.com/office/drawing/2014/main" id="{CC572FF8-6541-4FF3-B891-87937B57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49993"/>
            <a:ext cx="26289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部门</a:t>
            </a:r>
          </a:p>
        </p:txBody>
      </p: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3976688"/>
            <a:ext cx="3095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18" name="p6-text-143">
            <a:extLst xmlns:a="http://schemas.openxmlformats.org/drawingml/2006/main">
              <a:ext uri="{FF2B5EF4-FFF2-40B4-BE49-F238E27FC236}">
                <a16:creationId xmlns:a16="http://schemas.microsoft.com/office/drawing/2014/main" id="{2E14856C-AF35-4FFE-BDE0-D4EA71EC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sp>
        <p:nvSpPr>
          <p:cNvPr id="19" name="p6-shape-144">
            <a:extLst xmlns:a="http://schemas.openxmlformats.org/drawingml/2006/main">
              <a:ext uri="{FF2B5EF4-FFF2-40B4-BE49-F238E27FC236}">
                <a16:creationId xmlns:a16="http://schemas.microsoft.com/office/drawing/2014/main" id="{9BFE672B-BD02-480C-961B-B515A61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6865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6-text-145">
            <a:extLst xmlns:a="http://schemas.openxmlformats.org/drawingml/2006/main">
              <a:ext uri="{FF2B5EF4-FFF2-40B4-BE49-F238E27FC236}">
                <a16:creationId xmlns:a16="http://schemas.microsoft.com/office/drawing/2014/main" id="{91F63700-27C1-42D8-9899-0A9C6930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983730"/>
            <a:ext cx="26289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21" name="p6-shape-146">
            <a:extLst xmlns:a="http://schemas.openxmlformats.org/drawingml/2006/main">
              <a:ext uri="{FF2B5EF4-FFF2-40B4-BE49-F238E27FC236}">
                <a16:creationId xmlns:a16="http://schemas.microsoft.com/office/drawing/2014/main" id="{94F5BF70-C134-40CC-A41F-D1FE61EF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865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6-text-147">
            <a:extLst xmlns:a="http://schemas.openxmlformats.org/drawingml/2006/main">
              <a:ext uri="{FF2B5EF4-FFF2-40B4-BE49-F238E27FC236}">
                <a16:creationId xmlns:a16="http://schemas.microsoft.com/office/drawing/2014/main" id="{07EA0AE2-4361-48E9-86DC-C0DA78CF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983730"/>
            <a:ext cx="26289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研发部</a:t>
            </a:r>
          </a:p>
        </p:txBody>
      </p:sp>
      <p:sp>
        <p:nvSpPr>
          <p:cNvPr id="23" name="p6-shape-148">
            <a:extLst xmlns:a="http://schemas.openxmlformats.org/drawingml/2006/main">
              <a:ext uri="{FF2B5EF4-FFF2-40B4-BE49-F238E27FC236}">
                <a16:creationId xmlns:a16="http://schemas.microsoft.com/office/drawing/2014/main" id="{69A4F0DA-63E9-4048-B8F0-1731FBF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6686550"/>
            <a:ext cx="21240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6-text-149">
            <a:extLst xmlns:a="http://schemas.openxmlformats.org/drawingml/2006/main">
              <a:ext uri="{FF2B5EF4-FFF2-40B4-BE49-F238E27FC236}">
                <a16:creationId xmlns:a16="http://schemas.microsoft.com/office/drawing/2014/main" id="{6D0775ED-3474-439F-AFC8-7E6EED9C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6997065"/>
            <a:ext cx="1895475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李敏</a:t>
            </a:r>
          </a:p>
        </p:txBody>
      </p:sp>
      <p:cxnSp>
        <p:nvCxnSpPr>
          <p:cNvPr id="57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905625" y="7210425"/>
            <a:ext cx="3095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6" name="p6-text-150">
            <a:extLst xmlns:a="http://schemas.openxmlformats.org/drawingml/2006/main">
              <a:ext uri="{FF2B5EF4-FFF2-40B4-BE49-F238E27FC236}">
                <a16:creationId xmlns:a16="http://schemas.microsoft.com/office/drawing/2014/main" id="{62D611EF-B0F6-4E0C-887E-46D9058E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19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cxnSp>
        <p:nvCxnSpPr>
          <p:cNvPr id="59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858750" y="72104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8" name="p6-text-151">
            <a:extLst xmlns:a="http://schemas.openxmlformats.org/drawingml/2006/main">
              <a:ext uri="{FF2B5EF4-FFF2-40B4-BE49-F238E27FC236}">
                <a16:creationId xmlns:a16="http://schemas.microsoft.com/office/drawing/2014/main" id="{7C2D82F7-61F4-4715-B7FC-D7558C87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0199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负责人</a:t>
            </a:r>
          </a:p>
        </p:txBody>
      </p:sp>
      <p:cxnSp>
        <p:nvCxnSpPr>
          <p:cNvPr id="61" name=""/>
          <p:cNvCxnSpPr>
            <a:stCxn xmlns:a="http://schemas.openxmlformats.org/drawingml/2006/main" id="19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5476875" y="4476750"/>
            <a:ext cx="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dash"/>
            <a:tailEnd type="triangle" w="med" len="med"/>
          </a:ln>
        </p:spPr>
      </p:cxnSp>
      <p:sp>
        <p:nvSpPr>
          <p:cNvPr id="30" name="p6-text-152">
            <a:extLst xmlns:a="http://schemas.openxmlformats.org/drawingml/2006/main">
              <a:ext uri="{FF2B5EF4-FFF2-40B4-BE49-F238E27FC236}">
                <a16:creationId xmlns:a16="http://schemas.microsoft.com/office/drawing/2014/main" id="{62D16B83-45A6-4770-83BD-E032FBEF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91125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属于员工</a:t>
            </a:r>
          </a:p>
        </p:txBody>
      </p:sp>
      <p:cxnSp>
        <p:nvCxnSpPr>
          <p:cNvPr id="63" name=""/>
          <p:cNvCxnSpPr>
            <a:stCxn xmlns:a="http://schemas.openxmlformats.org/drawingml/2006/main" id="21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11430000" y="4476750"/>
            <a:ext cx="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dash"/>
            <a:tailEnd type="triangle" w="med" len="med"/>
          </a:ln>
        </p:spPr>
      </p:cxnSp>
      <p:sp>
        <p:nvSpPr>
          <p:cNvPr id="32" name="p6-text-153">
            <a:extLst xmlns:a="http://schemas.openxmlformats.org/drawingml/2006/main">
              <a:ext uri="{FF2B5EF4-FFF2-40B4-BE49-F238E27FC236}">
                <a16:creationId xmlns:a16="http://schemas.microsoft.com/office/drawing/2014/main" id="{4375CBCD-27CA-46A8-9613-20941246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91125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属于部门</a:t>
            </a:r>
          </a:p>
        </p:txBody>
      </p:sp>
    </p:spTree>
    <p:extLst>
      <p:ext uri="{BB962C8B-B14F-4D97-AF65-F5344CB8AC3E}">
        <p14:creationId xmlns:p14="http://schemas.microsoft.com/office/powerpoint/2010/main" val="1745370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7-shape-154">
            <a:extLst xmlns:a="http://schemas.openxmlformats.org/drawingml/2006/main">
              <a:ext uri="{FF2B5EF4-FFF2-40B4-BE49-F238E27FC236}">
                <a16:creationId xmlns:a16="http://schemas.microsoft.com/office/drawing/2014/main" id="{6ECCE2DE-965F-42BC-A2F2-CAD79B75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7-text-155">
            <a:extLst xmlns:a="http://schemas.openxmlformats.org/drawingml/2006/main">
              <a:ext uri="{FF2B5EF4-FFF2-40B4-BE49-F238E27FC236}">
                <a16:creationId xmlns:a16="http://schemas.microsoft.com/office/drawing/2014/main" id="{A7BA8B1B-3C60-4D75-836E-AC5E33E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7-text-156">
            <a:extLst xmlns:a="http://schemas.openxmlformats.org/drawingml/2006/main">
              <a:ext uri="{FF2B5EF4-FFF2-40B4-BE49-F238E27FC236}">
                <a16:creationId xmlns:a16="http://schemas.microsoft.com/office/drawing/2014/main" id="{80A48FB5-BE93-429B-8E0D-89B8D64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02 / 表达与使用</a:t>
            </a:r>
          </a:p>
        </p:txBody>
      </p:sp>
      <p:sp>
        <p:nvSpPr>
          <p:cNvPr id="4" name="p7-title">
            <a:extLst xmlns:a="http://schemas.openxmlformats.org/drawingml/2006/main">
              <a:ext uri="{FF2B5EF4-FFF2-40B4-BE49-F238E27FC236}">
                <a16:creationId xmlns:a16="http://schemas.microsoft.com/office/drawing/2014/main" id="{ECF9E19D-4671-494A-849E-1BD7D930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RDF 与 OWL 分别做什么</a:t>
            </a:r>
          </a:p>
        </p:txBody>
      </p:sp>
      <p:sp>
        <p:nvSpPr>
          <p:cNvPr id="5" name="p7-text-157">
            <a:extLst xmlns:a="http://schemas.openxmlformats.org/drawingml/2006/main">
              <a:ext uri="{FF2B5EF4-FFF2-40B4-BE49-F238E27FC236}">
                <a16:creationId xmlns:a16="http://schemas.microsoft.com/office/drawing/2014/main" id="{100F04CD-CF22-4485-B343-41775679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RDF 是图数据模型，OWL 是具有形式语义的本体语言</a:t>
            </a:r>
          </a:p>
        </p:txBody>
      </p:sp>
      <p:sp>
        <p:nvSpPr>
          <p:cNvPr id="6" name="p7-shape-158">
            <a:extLst xmlns:a="http://schemas.openxmlformats.org/drawingml/2006/main">
              <a:ext uri="{FF2B5EF4-FFF2-40B4-BE49-F238E27FC236}">
                <a16:creationId xmlns:a16="http://schemas.microsoft.com/office/drawing/2014/main" id="{47D1D786-ACEB-4752-8CAC-3E152DB3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7-text-159">
            <a:extLst xmlns:a="http://schemas.openxmlformats.org/drawingml/2006/main">
              <a:ext uri="{FF2B5EF4-FFF2-40B4-BE49-F238E27FC236}">
                <a16:creationId xmlns:a16="http://schemas.microsoft.com/office/drawing/2014/main" id="{26C443B3-C880-4E66-B434-57097822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这些技术帮助软件处理明确表达的知识</a:t>
            </a:r>
          </a:p>
        </p:txBody>
      </p:sp>
      <p:sp>
        <p:nvSpPr>
          <p:cNvPr id="8" name="p7-text-160">
            <a:extLst xmlns:a="http://schemas.openxmlformats.org/drawingml/2006/main">
              <a:ext uri="{FF2B5EF4-FFF2-40B4-BE49-F238E27FC236}">
                <a16:creationId xmlns:a16="http://schemas.microsoft.com/office/drawing/2014/main" id="{1D64527D-A08B-450B-802A-04C27944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RDF/OWL 可以协同使用；并非两种互斥的文件格式。</a:t>
            </a:r>
          </a:p>
        </p:txBody>
      </p:sp>
      <p:sp>
        <p:nvSpPr>
          <p:cNvPr id="9" name="p7-text-161">
            <a:extLst xmlns:a="http://schemas.openxmlformats.org/drawingml/2006/main">
              <a:ext uri="{FF2B5EF4-FFF2-40B4-BE49-F238E27FC236}">
                <a16:creationId xmlns:a16="http://schemas.microsoft.com/office/drawing/2014/main" id="{99D9B6D6-574D-46AF-AC1F-E619C7AF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07 / 18</a:t>
            </a:r>
          </a:p>
        </p:txBody>
      </p:sp>
      <p:sp>
        <p:nvSpPr>
          <p:cNvPr id="10" name="p7-shape-162">
            <a:extLst xmlns:a="http://schemas.openxmlformats.org/drawingml/2006/main">
              <a:ext uri="{FF2B5EF4-FFF2-40B4-BE49-F238E27FC236}">
                <a16:creationId xmlns:a16="http://schemas.microsoft.com/office/drawing/2014/main" id="{E858B65F-D177-4703-A9BB-E6CA4FF5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1" name="p7-text-163">
            <a:extLst xmlns:a="http://schemas.openxmlformats.org/drawingml/2006/main">
              <a:ext uri="{FF2B5EF4-FFF2-40B4-BE49-F238E27FC236}">
                <a16:creationId xmlns:a16="http://schemas.microsoft.com/office/drawing/2014/main" id="{9C77EFB2-4D6E-4FBB-9627-5C7DA302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RDF：用图陈述知识</a:t>
            </a:r>
          </a:p>
        </p:txBody>
      </p:sp>
      <p:sp>
        <p:nvSpPr>
          <p:cNvPr id="12" name="p7-text-164">
            <a:extLst xmlns:a="http://schemas.openxmlformats.org/drawingml/2006/main">
              <a:ext uri="{FF2B5EF4-FFF2-40B4-BE49-F238E27FC236}">
                <a16:creationId xmlns:a16="http://schemas.microsoft.com/office/drawing/2014/main" id="{511EE4AA-0262-442B-8DFF-352549AE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把对象及其关系写成可连接的陈述</a:t>
            </a:r>
          </a:p>
        </p:txBody>
      </p:sp>
      <p:sp>
        <p:nvSpPr>
          <p:cNvPr id="13" name="p7-shape-165">
            <a:extLst xmlns:a="http://schemas.openxmlformats.org/drawingml/2006/main">
              <a:ext uri="{FF2B5EF4-FFF2-40B4-BE49-F238E27FC236}">
                <a16:creationId xmlns:a16="http://schemas.microsoft.com/office/drawing/2014/main" id="{5DB612F8-D10A-45A8-AD66-B8754F5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992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4" name="p7-text-166">
            <a:extLst xmlns:a="http://schemas.openxmlformats.org/drawingml/2006/main">
              <a:ext uri="{FF2B5EF4-FFF2-40B4-BE49-F238E27FC236}">
                <a16:creationId xmlns:a16="http://schemas.microsoft.com/office/drawing/2014/main" id="{01873EC8-E0B3-45E4-ADDA-07FB812B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48050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OWL：表达形式语义</a:t>
            </a:r>
          </a:p>
        </p:txBody>
      </p:sp>
      <p:sp>
        <p:nvSpPr>
          <p:cNvPr id="15" name="p7-text-167">
            <a:extLst xmlns:a="http://schemas.openxmlformats.org/drawingml/2006/main">
              <a:ext uri="{FF2B5EF4-FFF2-40B4-BE49-F238E27FC236}">
                <a16:creationId xmlns:a16="http://schemas.microsoft.com/office/drawing/2014/main" id="{542B7B76-CBED-4962-9854-66777CD7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767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为类、关系及其组合明确逻辑含义</a:t>
            </a:r>
          </a:p>
        </p:txBody>
      </p:sp>
      <p:sp>
        <p:nvSpPr>
          <p:cNvPr id="16" name="p7-shape-168">
            <a:extLst xmlns:a="http://schemas.openxmlformats.org/drawingml/2006/main">
              <a:ext uri="{FF2B5EF4-FFF2-40B4-BE49-F238E27FC236}">
                <a16:creationId xmlns:a16="http://schemas.microsoft.com/office/drawing/2014/main" id="{7456A6B7-A80D-49DD-85DC-AB35D85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578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7" name="p7-text-169">
            <a:extLst xmlns:a="http://schemas.openxmlformats.org/drawingml/2006/main">
              <a:ext uri="{FF2B5EF4-FFF2-40B4-BE49-F238E27FC236}">
                <a16:creationId xmlns:a16="http://schemas.microsoft.com/office/drawing/2014/main" id="{14986FF2-8EF1-4D4E-AABB-D582020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07380"/>
            <a:ext cx="2057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18" name="p7-shape-170">
            <a:extLst xmlns:a="http://schemas.openxmlformats.org/drawingml/2006/main">
              <a:ext uri="{FF2B5EF4-FFF2-40B4-BE49-F238E27FC236}">
                <a16:creationId xmlns:a16="http://schemas.microsoft.com/office/drawing/2014/main" id="{32669DC7-14AA-48ED-B498-F1BCF46F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578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9" name="p7-text-171">
            <a:extLst xmlns:a="http://schemas.openxmlformats.org/drawingml/2006/main">
              <a:ext uri="{FF2B5EF4-FFF2-40B4-BE49-F238E27FC236}">
                <a16:creationId xmlns:a16="http://schemas.microsoft.com/office/drawing/2014/main" id="{9D1EC9F3-2B8B-4402-9DF7-299B4A1C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07380"/>
            <a:ext cx="2057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研发部</a:t>
            </a:r>
          </a:p>
        </p:txBody>
      </p: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352800" y="5934075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1" name="p7-text-172">
            <a:extLst xmlns:a="http://schemas.openxmlformats.org/drawingml/2006/main">
              <a:ext uri="{FF2B5EF4-FFF2-40B4-BE49-F238E27FC236}">
                <a16:creationId xmlns:a16="http://schemas.microsoft.com/office/drawing/2014/main" id="{F89FA388-DE49-4A62-B37D-101F7DA8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753100"/>
            <a:ext cx="2514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sp>
        <p:nvSpPr>
          <p:cNvPr id="22" name="p7-text-173">
            <a:extLst xmlns:a="http://schemas.openxmlformats.org/drawingml/2006/main">
              <a:ext uri="{FF2B5EF4-FFF2-40B4-BE49-F238E27FC236}">
                <a16:creationId xmlns:a16="http://schemas.microsoft.com/office/drawing/2014/main" id="{91F21E53-0505-43FB-93DA-0519ACC1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960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主体</a:t>
            </a:r>
          </a:p>
        </p:txBody>
      </p:sp>
      <p:sp>
        <p:nvSpPr>
          <p:cNvPr id="23" name="p7-text-174">
            <a:extLst xmlns:a="http://schemas.openxmlformats.org/drawingml/2006/main">
              <a:ext uri="{FF2B5EF4-FFF2-40B4-BE49-F238E27FC236}">
                <a16:creationId xmlns:a16="http://schemas.microsoft.com/office/drawing/2014/main" id="{6C7FDD72-691F-4F3C-8A4F-1444567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69607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关系</a:t>
            </a:r>
          </a:p>
        </p:txBody>
      </p:sp>
      <p:sp>
        <p:nvSpPr>
          <p:cNvPr id="24" name="p7-text-175">
            <a:extLst xmlns:a="http://schemas.openxmlformats.org/drawingml/2006/main">
              <a:ext uri="{FF2B5EF4-FFF2-40B4-BE49-F238E27FC236}">
                <a16:creationId xmlns:a16="http://schemas.microsoft.com/office/drawing/2014/main" id="{ACE904B9-3774-49D7-8B06-9B0C6A8D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6960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对象</a:t>
            </a:r>
          </a:p>
        </p:txBody>
      </p:sp>
      <p:sp>
        <p:nvSpPr>
          <p:cNvPr id="25" name="p7-shape-176">
            <a:extLst xmlns:a="http://schemas.openxmlformats.org/drawingml/2006/main">
              <a:ext uri="{FF2B5EF4-FFF2-40B4-BE49-F238E27FC236}">
                <a16:creationId xmlns:a16="http://schemas.microsoft.com/office/drawing/2014/main" id="{CB23A69A-80A2-418C-9F9C-C61C5470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62575"/>
            <a:ext cx="75247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7-text-177">
            <a:extLst xmlns:a="http://schemas.openxmlformats.org/drawingml/2006/main">
              <a:ext uri="{FF2B5EF4-FFF2-40B4-BE49-F238E27FC236}">
                <a16:creationId xmlns:a16="http://schemas.microsoft.com/office/drawing/2014/main" id="{1659C37E-CC4A-4EBB-A89B-3DDAE98C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9775"/>
            <a:ext cx="690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员工与部门是互斥的类别</a:t>
            </a:r>
          </a:p>
        </p:txBody>
      </p:sp>
      <p:sp>
        <p:nvSpPr>
          <p:cNvPr id="27" name="p7-text-178">
            <a:extLst xmlns:a="http://schemas.openxmlformats.org/drawingml/2006/main">
              <a:ext uri="{FF2B5EF4-FFF2-40B4-BE49-F238E27FC236}">
                <a16:creationId xmlns:a16="http://schemas.microsoft.com/office/drawing/2014/main" id="{39C7EDA0-72FB-4AB0-85D6-CDA80D99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2199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为一致性检查和逻辑推导提供依据</a:t>
            </a:r>
          </a:p>
        </p:txBody>
      </p:sp>
    </p:spTree>
    <p:extLst>
      <p:ext uri="{BB962C8B-B14F-4D97-AF65-F5344CB8AC3E}">
        <p14:creationId xmlns:p14="http://schemas.microsoft.com/office/powerpoint/2010/main" val="1215963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8-shape-179">
            <a:extLst xmlns:a="http://schemas.openxmlformats.org/drawingml/2006/main">
              <a:ext uri="{FF2B5EF4-FFF2-40B4-BE49-F238E27FC236}">
                <a16:creationId xmlns:a16="http://schemas.microsoft.com/office/drawing/2014/main" id="{38A9AB6D-EB07-497F-9144-CF4DC9EF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8-text-180">
            <a:extLst xmlns:a="http://schemas.openxmlformats.org/drawingml/2006/main">
              <a:ext uri="{FF2B5EF4-FFF2-40B4-BE49-F238E27FC236}">
                <a16:creationId xmlns:a16="http://schemas.microsoft.com/office/drawing/2014/main" id="{BD320BCF-6848-4BCC-9A47-2465B60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8-text-181">
            <a:extLst xmlns:a="http://schemas.openxmlformats.org/drawingml/2006/main">
              <a:ext uri="{FF2B5EF4-FFF2-40B4-BE49-F238E27FC236}">
                <a16:creationId xmlns:a16="http://schemas.microsoft.com/office/drawing/2014/main" id="{A6987D9F-B88A-42A9-B27C-74A69342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02 / 表达与使用</a:t>
            </a:r>
          </a:p>
        </p:txBody>
      </p:sp>
      <p:sp>
        <p:nvSpPr>
          <p:cNvPr id="4" name="p8-title">
            <a:extLst xmlns:a="http://schemas.openxmlformats.org/drawingml/2006/main">
              <a:ext uri="{FF2B5EF4-FFF2-40B4-BE49-F238E27FC236}">
                <a16:creationId xmlns:a16="http://schemas.microsoft.com/office/drawing/2014/main" id="{38404413-25D2-422C-B69A-CF88D8C6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形式语义怎样支持推理与检查</a:t>
            </a:r>
          </a:p>
        </p:txBody>
      </p:sp>
      <p:sp>
        <p:nvSpPr>
          <p:cNvPr id="5" name="p8-text-182">
            <a:extLst xmlns:a="http://schemas.openxmlformats.org/drawingml/2006/main">
              <a:ext uri="{FF2B5EF4-FFF2-40B4-BE49-F238E27FC236}">
                <a16:creationId xmlns:a16="http://schemas.microsoft.com/office/drawing/2014/main" id="{3C7ADA15-0D57-419B-8DEF-0E8FF683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根据已表达的知识，计算逻辑后果或发现矛盾</a:t>
            </a:r>
          </a:p>
        </p:txBody>
      </p:sp>
      <p:sp>
        <p:nvSpPr>
          <p:cNvPr id="6" name="p8-shape-183">
            <a:extLst xmlns:a="http://schemas.openxmlformats.org/drawingml/2006/main">
              <a:ext uri="{FF2B5EF4-FFF2-40B4-BE49-F238E27FC236}">
                <a16:creationId xmlns:a16="http://schemas.microsoft.com/office/drawing/2014/main" id="{1E7A0AB6-E3B0-490C-BAE5-3480D604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8-text-184">
            <a:extLst xmlns:a="http://schemas.openxmlformats.org/drawingml/2006/main">
              <a:ext uri="{FF2B5EF4-FFF2-40B4-BE49-F238E27FC236}">
                <a16:creationId xmlns:a16="http://schemas.microsoft.com/office/drawing/2014/main" id="{90CC59F1-159D-465F-BFFB-DC41F8E9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形式推理让一部分含义可以被明确检查和推导</a:t>
            </a:r>
          </a:p>
        </p:txBody>
      </p:sp>
      <p:sp>
        <p:nvSpPr>
          <p:cNvPr id="8" name="p8-text-185">
            <a:extLst xmlns:a="http://schemas.openxmlformats.org/drawingml/2006/main">
              <a:ext uri="{FF2B5EF4-FFF2-40B4-BE49-F238E27FC236}">
                <a16:creationId xmlns:a16="http://schemas.microsoft.com/office/drawing/2014/main" id="{694710A6-AFDF-4668-9842-3AC8DEBD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自动推导需相应表达与推理工具；此页介绍通用技术能力。</a:t>
            </a:r>
          </a:p>
        </p:txBody>
      </p:sp>
      <p:sp>
        <p:nvSpPr>
          <p:cNvPr id="9" name="p8-text-186">
            <a:extLst xmlns:a="http://schemas.openxmlformats.org/drawingml/2006/main">
              <a:ext uri="{FF2B5EF4-FFF2-40B4-BE49-F238E27FC236}">
                <a16:creationId xmlns:a16="http://schemas.microsoft.com/office/drawing/2014/main" id="{06F1416A-3403-45F8-96DD-159FD167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08 / 18</a:t>
            </a:r>
          </a:p>
        </p:txBody>
      </p:sp>
      <p:sp>
        <p:nvSpPr>
          <p:cNvPr id="10" name="p8-text-187">
            <a:extLst xmlns:a="http://schemas.openxmlformats.org/drawingml/2006/main">
              <a:ext uri="{FF2B5EF4-FFF2-40B4-BE49-F238E27FC236}">
                <a16:creationId xmlns:a16="http://schemas.microsoft.com/office/drawing/2014/main" id="{69EEF751-1AB9-42BE-841F-46E538F2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推导一个未直接写出的结论</a:t>
            </a:r>
          </a:p>
        </p:txBody>
      </p:sp>
      <p:sp>
        <p:nvSpPr>
          <p:cNvPr id="11" name="p8-shape-188">
            <a:extLst xmlns:a="http://schemas.openxmlformats.org/drawingml/2006/main">
              <a:ext uri="{FF2B5EF4-FFF2-40B4-BE49-F238E27FC236}">
                <a16:creationId xmlns:a16="http://schemas.microsoft.com/office/drawing/2014/main" id="{CB72BB6A-581E-490C-989B-23449562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2" name="p8-text-189">
            <a:extLst xmlns:a="http://schemas.openxmlformats.org/drawingml/2006/main">
              <a:ext uri="{FF2B5EF4-FFF2-40B4-BE49-F238E27FC236}">
                <a16:creationId xmlns:a16="http://schemas.microsoft.com/office/drawing/2014/main" id="{CF8A468D-73BB-463E-89BC-FA484AC4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95775"/>
            <a:ext cx="779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9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经理是一类员工</a:t>
            </a:r>
          </a:p>
        </p:txBody>
      </p:sp>
      <p:sp>
        <p:nvSpPr>
          <p:cNvPr id="13" name="p8-text-190">
            <a:extLst xmlns:a="http://schemas.openxmlformats.org/drawingml/2006/main">
              <a:ext uri="{FF2B5EF4-FFF2-40B4-BE49-F238E27FC236}">
                <a16:creationId xmlns:a16="http://schemas.microsoft.com/office/drawing/2014/main" id="{6B531141-AAD0-4BED-8084-3D1D54AA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91125"/>
            <a:ext cx="779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9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李敏是经理</a:t>
            </a:r>
          </a:p>
        </p:txBody>
      </p:sp>
      <p:sp>
        <p:nvSpPr>
          <p:cNvPr id="14" name="p8-shape-191">
            <a:extLst xmlns:a="http://schemas.openxmlformats.org/drawingml/2006/main">
              <a:ext uri="{FF2B5EF4-FFF2-40B4-BE49-F238E27FC236}">
                <a16:creationId xmlns:a16="http://schemas.microsoft.com/office/drawing/2014/main" id="{F431F541-0D11-4FC9-B0E8-B1B9DC0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00900"/>
            <a:ext cx="8572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8-text-192">
            <a:extLst xmlns:a="http://schemas.openxmlformats.org/drawingml/2006/main">
              <a:ext uri="{FF2B5EF4-FFF2-40B4-BE49-F238E27FC236}">
                <a16:creationId xmlns:a16="http://schemas.microsoft.com/office/drawing/2014/main" id="{85ACFCB2-29E4-475B-887A-59CFB234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496175"/>
            <a:ext cx="834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3375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因此，李敏是员工</a:t>
            </a:r>
          </a:p>
        </p:txBody>
      </p:sp>
      <p:cxnSp>
        <p:nvCxnSpPr>
          <p:cNvPr id="39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353050" y="60864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053"/>
            </a:solidFill>
            <a:prstDash val="solid"/>
            <a:tailEnd type="arrow" w="med" len="med"/>
          </a:ln>
        </p:spPr>
      </p:cxnSp>
      <p:sp>
        <p:nvSpPr>
          <p:cNvPr id="17" name="p8-text-193">
            <a:extLst xmlns:a="http://schemas.openxmlformats.org/drawingml/2006/main">
              <a:ext uri="{FF2B5EF4-FFF2-40B4-BE49-F238E27FC236}">
                <a16:creationId xmlns:a16="http://schemas.microsoft.com/office/drawing/2014/main" id="{B31D728E-DB48-4E1A-BEA5-E4D8ABC1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72225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推导</a:t>
            </a:r>
          </a:p>
        </p:txBody>
      </p:sp>
      <p:sp>
        <p:nvSpPr>
          <p:cNvPr id="18" name="p8-text-194">
            <a:extLst xmlns:a="http://schemas.openxmlformats.org/drawingml/2006/main">
              <a:ext uri="{FF2B5EF4-FFF2-40B4-BE49-F238E27FC236}">
                <a16:creationId xmlns:a16="http://schemas.microsoft.com/office/drawing/2014/main" id="{D070D61F-CF69-4341-83D6-0442F2BB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655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1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发现一个矛盾</a:t>
            </a:r>
          </a:p>
        </p:txBody>
      </p:sp>
      <p:sp>
        <p:nvSpPr>
          <p:cNvPr id="19" name="p8-shape-195">
            <a:extLst xmlns:a="http://schemas.openxmlformats.org/drawingml/2006/main">
              <a:ext uri="{FF2B5EF4-FFF2-40B4-BE49-F238E27FC236}">
                <a16:creationId xmlns:a16="http://schemas.microsoft.com/office/drawing/2014/main" id="{66CAE8FF-15D1-4CAF-A3F7-FA9A539B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95725"/>
            <a:ext cx="655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6C36"/>
            </a:solidFill>
            <a:prstDash val="solid"/>
          </a:ln>
        </p:spPr>
      </p:sp>
      <p:sp>
        <p:nvSpPr>
          <p:cNvPr id="20" name="p8-text-196">
            <a:extLst xmlns:a="http://schemas.openxmlformats.org/drawingml/2006/main">
              <a:ext uri="{FF2B5EF4-FFF2-40B4-BE49-F238E27FC236}">
                <a16:creationId xmlns:a16="http://schemas.microsoft.com/office/drawing/2014/main" id="{74374999-EE5B-4413-8177-CC60DFDC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76725"/>
            <a:ext cx="655320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约定：员工与部门互斥</a:t>
            </a:r>
          </a:p>
        </p:txBody>
      </p:sp>
      <p:sp>
        <p:nvSpPr>
          <p:cNvPr id="21" name="p8-text-197">
            <a:extLst xmlns:a="http://schemas.openxmlformats.org/drawingml/2006/main">
              <a:ext uri="{FF2B5EF4-FFF2-40B4-BE49-F238E27FC236}">
                <a16:creationId xmlns:a16="http://schemas.microsoft.com/office/drawing/2014/main" id="{8CA7B51C-CCD7-4C2E-AFFA-1818FF3B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86375"/>
            <a:ext cx="6553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假设误录：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把张三同时标成员工和部门</a:t>
            </a:r>
          </a:p>
        </p:txBody>
      </p:sp>
      <p:sp>
        <p:nvSpPr>
          <p:cNvPr id="22" name="p8-shape-198">
            <a:extLst xmlns:a="http://schemas.openxmlformats.org/drawingml/2006/main">
              <a:ext uri="{FF2B5EF4-FFF2-40B4-BE49-F238E27FC236}">
                <a16:creationId xmlns:a16="http://schemas.microsoft.com/office/drawing/2014/main" id="{C7F8458C-F7FF-4660-A745-93CF4204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00900"/>
            <a:ext cx="6553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8-text-199">
            <a:extLst xmlns:a="http://schemas.openxmlformats.org/drawingml/2006/main">
              <a:ext uri="{FF2B5EF4-FFF2-40B4-BE49-F238E27FC236}">
                <a16:creationId xmlns:a16="http://schemas.microsoft.com/office/drawing/2014/main" id="{213F94BB-CFA0-4D81-9A38-E10F7D51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58190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9B5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9B5146"/>
                </a:solidFill>
                <a:latin typeface="Noto Sans CJK SC"/>
                <a:ea typeface="Noto Sans CJK SC"/>
                <a:cs typeface="Noto Sans CJK SC"/>
              </a:rPr>
              <a:t>两项分类与互斥约定冲突</a:t>
            </a:r>
          </a:p>
        </p:txBody>
      </p:sp>
    </p:spTree>
    <p:extLst>
      <p:ext uri="{BB962C8B-B14F-4D97-AF65-F5344CB8AC3E}">
        <p14:creationId xmlns:p14="http://schemas.microsoft.com/office/powerpoint/2010/main" val="2017408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9-shape-200">
            <a:extLst xmlns:a="http://schemas.openxmlformats.org/drawingml/2006/main">
              <a:ext uri="{FF2B5EF4-FFF2-40B4-BE49-F238E27FC236}">
                <a16:creationId xmlns:a16="http://schemas.microsoft.com/office/drawing/2014/main" id="{EFC02BA1-4D88-43BD-AD12-2A93130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9-text-201">
            <a:extLst xmlns:a="http://schemas.openxmlformats.org/drawingml/2006/main">
              <a:ext uri="{FF2B5EF4-FFF2-40B4-BE49-F238E27FC236}">
                <a16:creationId xmlns:a16="http://schemas.microsoft.com/office/drawing/2014/main" id="{6ED0FE30-257F-4E62-8375-F52DD64A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9-text-202">
            <a:extLst xmlns:a="http://schemas.openxmlformats.org/drawingml/2006/main">
              <a:ext uri="{FF2B5EF4-FFF2-40B4-BE49-F238E27FC236}">
                <a16:creationId xmlns:a16="http://schemas.microsoft.com/office/drawing/2014/main" id="{BBC327D0-CF45-42C7-A623-F059203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02 / 表达与使用</a:t>
            </a:r>
          </a:p>
        </p:txBody>
      </p:sp>
      <p:sp>
        <p:nvSpPr>
          <p:cNvPr id="4" name="p9-title">
            <a:extLst xmlns:a="http://schemas.openxmlformats.org/drawingml/2006/main">
              <a:ext uri="{FF2B5EF4-FFF2-40B4-BE49-F238E27FC236}">
                <a16:creationId xmlns:a16="http://schemas.microsoft.com/office/drawing/2014/main" id="{6E254E94-609B-4AFE-A589-A89A78E7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本体与知识图谱怎样配合</a:t>
            </a:r>
          </a:p>
        </p:txBody>
      </p:sp>
      <p:sp>
        <p:nvSpPr>
          <p:cNvPr id="5" name="p9-text-203">
            <a:extLst xmlns:a="http://schemas.openxmlformats.org/drawingml/2006/main">
              <a:ext uri="{FF2B5EF4-FFF2-40B4-BE49-F238E27FC236}">
                <a16:creationId xmlns:a16="http://schemas.microsoft.com/office/drawing/2014/main" id="{54B67965-28A6-4ADB-B8BB-BE863BB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本体明确语义，知识图谱组织和连接知识</a:t>
            </a:r>
          </a:p>
        </p:txBody>
      </p:sp>
      <p:sp>
        <p:nvSpPr>
          <p:cNvPr id="6" name="p9-shape-204">
            <a:extLst xmlns:a="http://schemas.openxmlformats.org/drawingml/2006/main">
              <a:ext uri="{FF2B5EF4-FFF2-40B4-BE49-F238E27FC236}">
                <a16:creationId xmlns:a16="http://schemas.microsoft.com/office/drawing/2014/main" id="{0E972C3E-DF2F-4007-907A-18F7C0D0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9-text-205">
            <a:extLst xmlns:a="http://schemas.openxmlformats.org/drawingml/2006/main">
              <a:ext uri="{FF2B5EF4-FFF2-40B4-BE49-F238E27FC236}">
                <a16:creationId xmlns:a16="http://schemas.microsoft.com/office/drawing/2014/main" id="{0BB2D6DA-C86C-43D0-B57B-046F04A7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语义定义、知识组织和表达技术，各有自己的位置</a:t>
            </a:r>
          </a:p>
        </p:txBody>
      </p:sp>
      <p:sp>
        <p:nvSpPr>
          <p:cNvPr id="8" name="p9-text-206">
            <a:extLst xmlns:a="http://schemas.openxmlformats.org/drawingml/2006/main">
              <a:ext uri="{FF2B5EF4-FFF2-40B4-BE49-F238E27FC236}">
                <a16:creationId xmlns:a16="http://schemas.microsoft.com/office/drawing/2014/main" id="{97DF1E86-40CE-459A-9E23-6D49F648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知识图谱可包含本体定义，也可以采用不同的图技术。</a:t>
            </a:r>
          </a:p>
        </p:txBody>
      </p:sp>
      <p:sp>
        <p:nvSpPr>
          <p:cNvPr id="9" name="p9-text-207">
            <a:extLst xmlns:a="http://schemas.openxmlformats.org/drawingml/2006/main">
              <a:ext uri="{FF2B5EF4-FFF2-40B4-BE49-F238E27FC236}">
                <a16:creationId xmlns:a16="http://schemas.microsoft.com/office/drawing/2014/main" id="{A892EAAA-E55F-470A-987B-91F3A7BB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09 / 18</a:t>
            </a:r>
          </a:p>
        </p:txBody>
      </p:sp>
      <p:sp>
        <p:nvSpPr>
          <p:cNvPr id="10" name="p9-text-208">
            <a:extLst xmlns:a="http://schemas.openxmlformats.org/drawingml/2006/main">
              <a:ext uri="{FF2B5EF4-FFF2-40B4-BE49-F238E27FC236}">
                <a16:creationId xmlns:a16="http://schemas.microsoft.com/office/drawing/2014/main" id="{59C46A47-7A9B-418D-B1A9-514C6C43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本体提供语义定义</a:t>
            </a:r>
          </a:p>
        </p:txBody>
      </p:sp>
      <p:sp>
        <p:nvSpPr>
          <p:cNvPr id="11" name="p9-shape-209">
            <a:extLst xmlns:a="http://schemas.openxmlformats.org/drawingml/2006/main">
              <a:ext uri="{FF2B5EF4-FFF2-40B4-BE49-F238E27FC236}">
                <a16:creationId xmlns:a16="http://schemas.microsoft.com/office/drawing/2014/main" id="{2F54BDDD-22E7-46BA-A3A4-884D897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2" name="p9-text-210">
            <a:extLst xmlns:a="http://schemas.openxmlformats.org/drawingml/2006/main">
              <a:ext uri="{FF2B5EF4-FFF2-40B4-BE49-F238E27FC236}">
                <a16:creationId xmlns:a16="http://schemas.microsoft.com/office/drawing/2014/main" id="{8476EF19-3FEE-4E2C-B0DA-0D8E87FE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1955"/>
            <a:ext cx="27241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差旅申请</a:t>
            </a:r>
          </a:p>
        </p:txBody>
      </p:sp>
      <p:sp>
        <p:nvSpPr>
          <p:cNvPr id="13" name="p9-shape-211">
            <a:extLst xmlns:a="http://schemas.openxmlformats.org/drawingml/2006/main">
              <a:ext uri="{FF2B5EF4-FFF2-40B4-BE49-F238E27FC236}">
                <a16:creationId xmlns:a16="http://schemas.microsoft.com/office/drawing/2014/main" id="{11EF649D-8CD1-44D9-8157-BAF030D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4" name="p9-text-212">
            <a:extLst xmlns:a="http://schemas.openxmlformats.org/drawingml/2006/main">
              <a:ext uri="{FF2B5EF4-FFF2-40B4-BE49-F238E27FC236}">
                <a16:creationId xmlns:a16="http://schemas.microsoft.com/office/drawing/2014/main" id="{845649AF-45C3-4BC4-9EF2-BBFAE435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1955"/>
            <a:ext cx="27241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员工</a:t>
            </a:r>
          </a:p>
        </p:txBody>
      </p:sp>
      <p:sp>
        <p:nvSpPr>
          <p:cNvPr id="15" name="p9-shape-213">
            <a:extLst xmlns:a="http://schemas.openxmlformats.org/drawingml/2006/main">
              <a:ext uri="{FF2B5EF4-FFF2-40B4-BE49-F238E27FC236}">
                <a16:creationId xmlns:a16="http://schemas.microsoft.com/office/drawing/2014/main" id="{F97588A3-85CA-4935-967D-5981B745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962400"/>
            <a:ext cx="4533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6" name="p9-text-214">
            <a:extLst xmlns:a="http://schemas.openxmlformats.org/drawingml/2006/main">
              <a:ext uri="{FF2B5EF4-FFF2-40B4-BE49-F238E27FC236}">
                <a16:creationId xmlns:a16="http://schemas.microsoft.com/office/drawing/2014/main" id="{94CFD777-4ACE-44AC-9316-A0B6080D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211955"/>
            <a:ext cx="430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部门</a:t>
            </a:r>
          </a:p>
        </p:txBody>
      </p: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19550" y="44386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18" name="p9-text-215">
            <a:extLst xmlns:a="http://schemas.openxmlformats.org/drawingml/2006/main">
              <a:ext uri="{FF2B5EF4-FFF2-40B4-BE49-F238E27FC236}">
                <a16:creationId xmlns:a16="http://schemas.microsoft.com/office/drawing/2014/main" id="{65179234-0C26-4CBE-98A0-0626DB42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481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申请人</a:t>
            </a:r>
          </a:p>
        </p:txBody>
      </p: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829800" y="44386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0" name="p9-text-216">
            <a:extLst xmlns:a="http://schemas.openxmlformats.org/drawingml/2006/main">
              <a:ext uri="{FF2B5EF4-FFF2-40B4-BE49-F238E27FC236}">
                <a16:creationId xmlns:a16="http://schemas.microsoft.com/office/drawing/2014/main" id="{A511F8DD-E9EA-4C34-BACC-DCB758D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481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sp>
        <p:nvSpPr>
          <p:cNvPr id="21" name="p9-shape-217">
            <a:extLst xmlns:a="http://schemas.openxmlformats.org/drawingml/2006/main">
              <a:ext uri="{FF2B5EF4-FFF2-40B4-BE49-F238E27FC236}">
                <a16:creationId xmlns:a16="http://schemas.microsoft.com/office/drawing/2014/main" id="{DE3D9189-EAE6-4C00-9455-2830BA0E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02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22" name="p9-text-218">
            <a:extLst xmlns:a="http://schemas.openxmlformats.org/drawingml/2006/main">
              <a:ext uri="{FF2B5EF4-FFF2-40B4-BE49-F238E27FC236}">
                <a16:creationId xmlns:a16="http://schemas.microsoft.com/office/drawing/2014/main" id="{104097F0-86DD-4EEE-8400-D55A03D1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15025"/>
            <a:ext cx="1143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知识网络连接具体知识</a:t>
            </a:r>
          </a:p>
        </p:txBody>
      </p:sp>
      <p:sp>
        <p:nvSpPr>
          <p:cNvPr id="23" name="p9-shape-219">
            <a:extLst xmlns:a="http://schemas.openxmlformats.org/drawingml/2006/main">
              <a:ext uri="{FF2B5EF4-FFF2-40B4-BE49-F238E27FC236}">
                <a16:creationId xmlns:a16="http://schemas.microsoft.com/office/drawing/2014/main" id="{F2F8FA75-1F78-46F9-98B1-F4869832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9-text-220">
            <a:extLst xmlns:a="http://schemas.openxmlformats.org/drawingml/2006/main">
              <a:ext uri="{FF2B5EF4-FFF2-40B4-BE49-F238E27FC236}">
                <a16:creationId xmlns:a16="http://schemas.microsoft.com/office/drawing/2014/main" id="{1403A66E-39AB-477D-934E-C7587451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107555"/>
            <a:ext cx="2438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T-101</a:t>
            </a:r>
          </a:p>
        </p:txBody>
      </p:sp>
      <p:sp>
        <p:nvSpPr>
          <p:cNvPr id="25" name="p9-shape-221">
            <a:extLst xmlns:a="http://schemas.openxmlformats.org/drawingml/2006/main">
              <a:ext uri="{FF2B5EF4-FFF2-40B4-BE49-F238E27FC236}">
                <a16:creationId xmlns:a16="http://schemas.microsoft.com/office/drawing/2014/main" id="{F4A5A70A-A08F-40C1-B78F-0CB0BBC1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8580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9-text-222">
            <a:extLst xmlns:a="http://schemas.openxmlformats.org/drawingml/2006/main">
              <a:ext uri="{FF2B5EF4-FFF2-40B4-BE49-F238E27FC236}">
                <a16:creationId xmlns:a16="http://schemas.microsoft.com/office/drawing/2014/main" id="{BA29A586-861F-4B5D-BF8D-979E39FF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107555"/>
            <a:ext cx="2438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27" name="p9-shape-223">
            <a:extLst xmlns:a="http://schemas.openxmlformats.org/drawingml/2006/main">
              <a:ext uri="{FF2B5EF4-FFF2-40B4-BE49-F238E27FC236}">
                <a16:creationId xmlns:a16="http://schemas.microsoft.com/office/drawing/2014/main" id="{1A1DB020-1967-4F7B-82E9-4F076085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8580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9-text-224">
            <a:extLst xmlns:a="http://schemas.openxmlformats.org/drawingml/2006/main">
              <a:ext uri="{FF2B5EF4-FFF2-40B4-BE49-F238E27FC236}">
                <a16:creationId xmlns:a16="http://schemas.microsoft.com/office/drawing/2014/main" id="{741B7D26-0759-4AB7-A208-6386B94B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107555"/>
            <a:ext cx="2438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研发部</a:t>
            </a:r>
          </a:p>
        </p:txBody>
      </p:sp>
      <p:sp>
        <p:nvSpPr>
          <p:cNvPr id="29" name="p9-shape-225">
            <a:extLst xmlns:a="http://schemas.openxmlformats.org/drawingml/2006/main">
              <a:ext uri="{FF2B5EF4-FFF2-40B4-BE49-F238E27FC236}">
                <a16:creationId xmlns:a16="http://schemas.microsoft.com/office/drawing/2014/main" id="{440D2F93-2838-485C-BF62-625559C1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6858000"/>
            <a:ext cx="2438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9-text-226">
            <a:extLst xmlns:a="http://schemas.openxmlformats.org/drawingml/2006/main">
              <a:ext uri="{FF2B5EF4-FFF2-40B4-BE49-F238E27FC236}">
                <a16:creationId xmlns:a16="http://schemas.microsoft.com/office/drawing/2014/main" id="{BC0BF8DB-3BCD-491B-A781-D57F93FA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7107555"/>
            <a:ext cx="22098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李敏</a:t>
            </a:r>
          </a:p>
        </p:txBody>
      </p:sp>
      <p:cxnSp>
        <p:nvCxnSpPr>
          <p:cNvPr id="68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733800" y="73342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32" name="p9-text-227">
            <a:extLst xmlns:a="http://schemas.openxmlformats.org/drawingml/2006/main">
              <a:ext uri="{FF2B5EF4-FFF2-40B4-BE49-F238E27FC236}">
                <a16:creationId xmlns:a16="http://schemas.microsoft.com/office/drawing/2014/main" id="{848BBA5B-3107-437F-BAC8-6042C953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143750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申请人</a:t>
            </a:r>
          </a:p>
        </p:txBody>
      </p:sp>
      <p:cxnSp>
        <p:nvCxnSpPr>
          <p:cNvPr id="70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305800" y="73342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34" name="p9-text-228">
            <a:extLst xmlns:a="http://schemas.openxmlformats.org/drawingml/2006/main">
              <a:ext uri="{FF2B5EF4-FFF2-40B4-BE49-F238E27FC236}">
                <a16:creationId xmlns:a16="http://schemas.microsoft.com/office/drawing/2014/main" id="{5C72F2EC-C189-47CC-9650-A9A7B02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143750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cxnSp>
        <p:nvCxnSpPr>
          <p:cNvPr id="72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2877800" y="73342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36" name="p9-text-229">
            <a:extLst xmlns:a="http://schemas.openxmlformats.org/drawingml/2006/main">
              <a:ext uri="{FF2B5EF4-FFF2-40B4-BE49-F238E27FC236}">
                <a16:creationId xmlns:a16="http://schemas.microsoft.com/office/drawing/2014/main" id="{50B5884A-1F86-4508-A7E8-FC551C8B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143750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负责人</a:t>
            </a:r>
          </a:p>
        </p:txBody>
      </p:sp>
      <p:sp>
        <p:nvSpPr>
          <p:cNvPr id="37" name="p9-text-230">
            <a:extLst xmlns:a="http://schemas.openxmlformats.org/drawingml/2006/main">
              <a:ext uri="{FF2B5EF4-FFF2-40B4-BE49-F238E27FC236}">
                <a16:creationId xmlns:a16="http://schemas.microsoft.com/office/drawing/2014/main" id="{5BB8B494-EFF7-45A1-AB54-6E537155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34350"/>
            <a:ext cx="1615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RDF / OWL 等技术可以参与表达这些知识</a:t>
            </a:r>
          </a:p>
        </p:txBody>
      </p:sp>
    </p:spTree>
    <p:extLst>
      <p:ext uri="{BB962C8B-B14F-4D97-AF65-F5344CB8AC3E}">
        <p14:creationId xmlns:p14="http://schemas.microsoft.com/office/powerpoint/2010/main" val="10915360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10-shape-231">
            <a:extLst xmlns:a="http://schemas.openxmlformats.org/drawingml/2006/main">
              <a:ext uri="{FF2B5EF4-FFF2-40B4-BE49-F238E27FC236}">
                <a16:creationId xmlns:a16="http://schemas.microsoft.com/office/drawing/2014/main" id="{707B01A7-6CB0-4B9E-BF15-0E959A20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0-text-232">
            <a:extLst xmlns:a="http://schemas.openxmlformats.org/drawingml/2006/main">
              <a:ext uri="{FF2B5EF4-FFF2-40B4-BE49-F238E27FC236}">
                <a16:creationId xmlns:a16="http://schemas.microsoft.com/office/drawing/2014/main" id="{45A527FE-1CAB-4B46-8DD9-FF53E45C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0-text-233">
            <a:extLst xmlns:a="http://schemas.openxmlformats.org/drawingml/2006/main">
              <a:ext uri="{FF2B5EF4-FFF2-40B4-BE49-F238E27FC236}">
                <a16:creationId xmlns:a16="http://schemas.microsoft.com/office/drawing/2014/main" id="{46811505-9084-4CF8-9A1B-8493C119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02 / 表达与使用</a:t>
            </a:r>
          </a:p>
        </p:txBody>
      </p:sp>
      <p:sp>
        <p:nvSpPr>
          <p:cNvPr id="4" name="p10-title">
            <a:extLst xmlns:a="http://schemas.openxmlformats.org/drawingml/2006/main">
              <a:ext uri="{FF2B5EF4-FFF2-40B4-BE49-F238E27FC236}">
                <a16:creationId xmlns:a16="http://schemas.microsoft.com/office/drawing/2014/main" id="{B814BF0D-0544-4E92-801D-E84A80B9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本体在 Agent 体系中的位置</a:t>
            </a:r>
          </a:p>
        </p:txBody>
      </p:sp>
      <p:sp>
        <p:nvSpPr>
          <p:cNvPr id="5" name="p10-text-234">
            <a:extLst xmlns:a="http://schemas.openxmlformats.org/drawingml/2006/main">
              <a:ext uri="{FF2B5EF4-FFF2-40B4-BE49-F238E27FC236}">
                <a16:creationId xmlns:a16="http://schemas.microsoft.com/office/drawing/2014/main" id="{014E36FA-4B1E-438B-9282-39C6FC8F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Agent 结合领域语义、当前事实和工具能力处理业务</a:t>
            </a:r>
          </a:p>
        </p:txBody>
      </p:sp>
      <p:sp>
        <p:nvSpPr>
          <p:cNvPr id="6" name="p10-shape-235">
            <a:extLst xmlns:a="http://schemas.openxmlformats.org/drawingml/2006/main">
              <a:ext uri="{FF2B5EF4-FFF2-40B4-BE49-F238E27FC236}">
                <a16:creationId xmlns:a16="http://schemas.microsoft.com/office/drawing/2014/main" id="{5CBEFD7B-A08B-4F6A-BA4D-D7299B1F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0-text-236">
            <a:extLst xmlns:a="http://schemas.openxmlformats.org/drawingml/2006/main">
              <a:ext uri="{FF2B5EF4-FFF2-40B4-BE49-F238E27FC236}">
                <a16:creationId xmlns:a16="http://schemas.microsoft.com/office/drawing/2014/main" id="{3148A48B-D1E8-452A-99FB-C23DFDB6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语言模型负责理解与组织判断，业务语义为任务提供明确依据</a:t>
            </a:r>
          </a:p>
        </p:txBody>
      </p:sp>
      <p:sp>
        <p:nvSpPr>
          <p:cNvPr id="8" name="p10-text-237">
            <a:extLst xmlns:a="http://schemas.openxmlformats.org/drawingml/2006/main">
              <a:ext uri="{FF2B5EF4-FFF2-40B4-BE49-F238E27FC236}">
                <a16:creationId xmlns:a16="http://schemas.microsoft.com/office/drawing/2014/main" id="{CD4FA88F-8AC1-4709-9C82-C98EE571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10 / 18</a:t>
            </a:r>
          </a:p>
        </p:txBody>
      </p:sp>
      <p:sp>
        <p:nvSpPr>
          <p:cNvPr id="9" name="p10-shape-238">
            <a:extLst xmlns:a="http://schemas.openxmlformats.org/drawingml/2006/main">
              <a:ext uri="{FF2B5EF4-FFF2-40B4-BE49-F238E27FC236}">
                <a16:creationId xmlns:a16="http://schemas.microsoft.com/office/drawing/2014/main" id="{E01F898B-2342-4678-B28D-692B36CD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514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0" name="p10-text-239">
            <a:extLst xmlns:a="http://schemas.openxmlformats.org/drawingml/2006/main">
              <a:ext uri="{FF2B5EF4-FFF2-40B4-BE49-F238E27FC236}">
                <a16:creationId xmlns:a16="http://schemas.microsoft.com/office/drawing/2014/main" id="{8CB418C4-2FF9-49AD-B2D9-B10DFD4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2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用户问题：该由谁审批？</a:t>
            </a:r>
          </a:p>
        </p:txBody>
      </p:sp>
      <p:sp>
        <p:nvSpPr>
          <p:cNvPr id="11" name="p10-shape-240">
            <a:extLst xmlns:a="http://schemas.openxmlformats.org/drawingml/2006/main">
              <a:ext uri="{FF2B5EF4-FFF2-40B4-BE49-F238E27FC236}">
                <a16:creationId xmlns:a16="http://schemas.microsoft.com/office/drawing/2014/main" id="{4B94D335-82E6-45CF-A7BB-7D9996F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5334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0-text-241">
            <a:extLst xmlns:a="http://schemas.openxmlformats.org/drawingml/2006/main">
              <a:ext uri="{FF2B5EF4-FFF2-40B4-BE49-F238E27FC236}">
                <a16:creationId xmlns:a16="http://schemas.microsoft.com/office/drawing/2014/main" id="{3079D3D2-4EAA-4EBD-9630-5E90F547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05425"/>
            <a:ext cx="5105400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34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Agent</a:t>
            </a:r>
          </a:p>
        </p:txBody>
      </p:sp>
      <p:sp>
        <p:nvSpPr>
          <p:cNvPr id="13" name="p10-text-242">
            <a:extLst xmlns:a="http://schemas.openxmlformats.org/drawingml/2006/main">
              <a:ext uri="{FF2B5EF4-FFF2-40B4-BE49-F238E27FC236}">
                <a16:creationId xmlns:a16="http://schemas.microsoft.com/office/drawing/2014/main" id="{344DD2FD-BBF2-4388-9478-EED5B28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08370"/>
            <a:ext cx="5143500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D7E1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D7E1D4"/>
                </a:solidFill>
                <a:latin typeface="Noto Sans CJK SC"/>
                <a:ea typeface="Noto Sans CJK SC"/>
                <a:cs typeface="Noto Sans CJK SC"/>
              </a:rPr>
              <a:t>语言模型理解请求、规划与解释</a:t>
            </a:r>
          </a:p>
        </p:txBody>
      </p:sp>
      <p:sp>
        <p:nvSpPr>
          <p:cNvPr id="14" name="p10-shape-243">
            <a:extLst xmlns:a="http://schemas.openxmlformats.org/drawingml/2006/main">
              <a:ext uri="{FF2B5EF4-FFF2-40B4-BE49-F238E27FC236}">
                <a16:creationId xmlns:a16="http://schemas.microsoft.com/office/drawing/2014/main" id="{92EB7FDD-BD9D-4828-B82B-66F86F07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53025"/>
            <a:ext cx="3619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0-text-244">
            <a:extLst xmlns:a="http://schemas.openxmlformats.org/drawingml/2006/main">
              <a:ext uri="{FF2B5EF4-FFF2-40B4-BE49-F238E27FC236}">
                <a16:creationId xmlns:a16="http://schemas.microsoft.com/office/drawing/2014/main" id="{314799B9-2629-4D4E-AED6-02142E86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62575"/>
            <a:ext cx="33909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语义模型</a:t>
            </a:r>
          </a:p>
        </p:txBody>
      </p:sp>
      <p:sp>
        <p:nvSpPr>
          <p:cNvPr id="16" name="p10-text-245">
            <a:extLst xmlns:a="http://schemas.openxmlformats.org/drawingml/2006/main">
              <a:ext uri="{FF2B5EF4-FFF2-40B4-BE49-F238E27FC236}">
                <a16:creationId xmlns:a16="http://schemas.microsoft.com/office/drawing/2014/main" id="{3EB8A1FC-66C5-4923-AD4C-39931F78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54078"/>
            <a:ext cx="3429000" cy="599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概念、关系与政策说明</a:t>
            </a:r>
          </a:p>
        </p:txBody>
      </p:sp>
      <p:sp>
        <p:nvSpPr>
          <p:cNvPr id="17" name="p10-shape-246">
            <a:extLst xmlns:a="http://schemas.openxmlformats.org/drawingml/2006/main">
              <a:ext uri="{FF2B5EF4-FFF2-40B4-BE49-F238E27FC236}">
                <a16:creationId xmlns:a16="http://schemas.microsoft.com/office/drawing/2014/main" id="{47020B00-62CA-4029-8724-4D6024A7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095750"/>
            <a:ext cx="36004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8" name="p10-text-247">
            <a:extLst xmlns:a="http://schemas.openxmlformats.org/drawingml/2006/main">
              <a:ext uri="{FF2B5EF4-FFF2-40B4-BE49-F238E27FC236}">
                <a16:creationId xmlns:a16="http://schemas.microsoft.com/office/drawing/2014/main" id="{E9E197D6-1B65-4D18-92FC-B9CECA68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4305300"/>
            <a:ext cx="33718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业务事实</a:t>
            </a:r>
          </a:p>
        </p:txBody>
      </p:sp>
      <p:sp>
        <p:nvSpPr>
          <p:cNvPr id="19" name="p10-text-248">
            <a:extLst xmlns:a="http://schemas.openxmlformats.org/drawingml/2006/main">
              <a:ext uri="{FF2B5EF4-FFF2-40B4-BE49-F238E27FC236}">
                <a16:creationId xmlns:a16="http://schemas.microsoft.com/office/drawing/2014/main" id="{63C02401-7F89-4E6F-9679-8DCA8F5C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859655"/>
            <a:ext cx="34099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当前申请人与组织关系</a:t>
            </a:r>
          </a:p>
        </p:txBody>
      </p:sp>
      <p:sp>
        <p:nvSpPr>
          <p:cNvPr id="20" name="p10-shape-249">
            <a:extLst xmlns:a="http://schemas.openxmlformats.org/drawingml/2006/main">
              <a:ext uri="{FF2B5EF4-FFF2-40B4-BE49-F238E27FC236}">
                <a16:creationId xmlns:a16="http://schemas.microsoft.com/office/drawing/2014/main" id="{F6ABF403-39C4-4BFE-B6D4-BB50011A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019925"/>
            <a:ext cx="36004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21" name="p10-text-250">
            <a:extLst xmlns:a="http://schemas.openxmlformats.org/drawingml/2006/main">
              <a:ext uri="{FF2B5EF4-FFF2-40B4-BE49-F238E27FC236}">
                <a16:creationId xmlns:a16="http://schemas.microsoft.com/office/drawing/2014/main" id="{4DC2B31F-414B-49B2-8B6C-953180D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7229475"/>
            <a:ext cx="33718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工具能力</a:t>
            </a:r>
          </a:p>
        </p:txBody>
      </p:sp>
      <p:sp>
        <p:nvSpPr>
          <p:cNvPr id="22" name="p10-text-251">
            <a:extLst xmlns:a="http://schemas.openxmlformats.org/drawingml/2006/main">
              <a:ext uri="{FF2B5EF4-FFF2-40B4-BE49-F238E27FC236}">
                <a16:creationId xmlns:a16="http://schemas.microsoft.com/office/drawing/2014/main" id="{D61F968F-4AF9-4FDE-91FD-C400FE4B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7783830"/>
            <a:ext cx="340995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查询、计算与获准操作</a:t>
            </a:r>
          </a:p>
        </p:txBody>
      </p:sp>
      <p:cxnSp>
        <p:nvCxnSpPr>
          <p:cNvPr id="52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144000" y="4010025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 flipV="1">
            <a:off x="4686300" y="5891213"/>
            <a:ext cx="17907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053"/>
            </a:solidFill>
            <a:prstDash val="solid"/>
            <a:tailEnd type="arrow" w="med" len="med"/>
          </a:ln>
        </p:spPr>
      </p:cxnSp>
      <p:sp>
        <p:nvSpPr>
          <p:cNvPr id="25" name="p10-text-252">
            <a:extLst xmlns:a="http://schemas.openxmlformats.org/drawingml/2006/main">
              <a:ext uri="{FF2B5EF4-FFF2-40B4-BE49-F238E27FC236}">
                <a16:creationId xmlns:a16="http://schemas.microsoft.com/office/drawing/2014/main" id="{E64F7A5F-0F30-4E01-8A48-601263E5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14975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查定义</a:t>
            </a:r>
          </a:p>
        </p:txBody>
      </p: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1811000" y="4738688"/>
            <a:ext cx="1809750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7" name="p10-text-253">
            <a:extLst xmlns:a="http://schemas.openxmlformats.org/drawingml/2006/main">
              <a:ext uri="{FF2B5EF4-FFF2-40B4-BE49-F238E27FC236}">
                <a16:creationId xmlns:a16="http://schemas.microsoft.com/office/drawing/2014/main" id="{B8F590E0-F2B8-49D0-8ACF-25C12CF0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429125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取事实</a:t>
            </a:r>
          </a:p>
        </p:txBody>
      </p: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1811000" y="5905500"/>
            <a:ext cx="1809750" cy="1757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9" name="p10-text-254">
            <a:extLst xmlns:a="http://schemas.openxmlformats.org/drawingml/2006/main">
              <a:ext uri="{FF2B5EF4-FFF2-40B4-BE49-F238E27FC236}">
                <a16:creationId xmlns:a16="http://schemas.microsoft.com/office/drawing/2014/main" id="{C09CBB3D-0D16-496F-9161-299989DD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7419975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调用能力</a:t>
            </a:r>
          </a:p>
        </p:txBody>
      </p:sp>
    </p:spTree>
    <p:extLst>
      <p:ext uri="{BB962C8B-B14F-4D97-AF65-F5344CB8AC3E}">
        <p14:creationId xmlns:p14="http://schemas.microsoft.com/office/powerpoint/2010/main" val="1755134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11-shape-255">
            <a:extLst xmlns:a="http://schemas.openxmlformats.org/drawingml/2006/main">
              <a:ext uri="{FF2B5EF4-FFF2-40B4-BE49-F238E27FC236}">
                <a16:creationId xmlns:a16="http://schemas.microsoft.com/office/drawing/2014/main" id="{004AD8DB-C6ED-4616-9328-EFA12A59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1-text-256">
            <a:extLst xmlns:a="http://schemas.openxmlformats.org/drawingml/2006/main">
              <a:ext uri="{FF2B5EF4-FFF2-40B4-BE49-F238E27FC236}">
                <a16:creationId xmlns:a16="http://schemas.microsoft.com/office/drawing/2014/main" id="{E8CA5759-F2A7-467C-8568-1C1151A7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1-text-257">
            <a:extLst xmlns:a="http://schemas.openxmlformats.org/drawingml/2006/main">
              <a:ext uri="{FF2B5EF4-FFF2-40B4-BE49-F238E27FC236}">
                <a16:creationId xmlns:a16="http://schemas.microsoft.com/office/drawing/2014/main" id="{375E2A7C-427C-4D7F-A1F0-035C955C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02 / 表达与使用</a:t>
            </a:r>
          </a:p>
        </p:txBody>
      </p:sp>
      <p:sp>
        <p:nvSpPr>
          <p:cNvPr id="4" name="p11-title">
            <a:extLst xmlns:a="http://schemas.openxmlformats.org/drawingml/2006/main">
              <a:ext uri="{FF2B5EF4-FFF2-40B4-BE49-F238E27FC236}">
                <a16:creationId xmlns:a16="http://schemas.microsoft.com/office/drawing/2014/main" id="{A48C41E8-C7F5-4641-A816-7C9D76C7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Agent 如何找到审批人</a:t>
            </a:r>
          </a:p>
        </p:txBody>
      </p:sp>
      <p:sp>
        <p:nvSpPr>
          <p:cNvPr id="5" name="p11-text-258">
            <a:extLst xmlns:a="http://schemas.openxmlformats.org/drawingml/2006/main">
              <a:ext uri="{FF2B5EF4-FFF2-40B4-BE49-F238E27FC236}">
                <a16:creationId xmlns:a16="http://schemas.microsoft.com/office/drawing/2014/main" id="{4DBE1E2E-C7FA-4182-AAEC-188CE415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把明确的业务含义与本次事实结合起来</a:t>
            </a:r>
          </a:p>
        </p:txBody>
      </p:sp>
      <p:sp>
        <p:nvSpPr>
          <p:cNvPr id="6" name="p11-shape-259">
            <a:extLst xmlns:a="http://schemas.openxmlformats.org/drawingml/2006/main">
              <a:ext uri="{FF2B5EF4-FFF2-40B4-BE49-F238E27FC236}">
                <a16:creationId xmlns:a16="http://schemas.microsoft.com/office/drawing/2014/main" id="{FF94FD06-8273-43C7-A804-6FC112C5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1-text-260">
            <a:extLst xmlns:a="http://schemas.openxmlformats.org/drawingml/2006/main">
              <a:ext uri="{FF2B5EF4-FFF2-40B4-BE49-F238E27FC236}">
                <a16:creationId xmlns:a16="http://schemas.microsoft.com/office/drawing/2014/main" id="{EC0D14A8-AE06-47AB-B9F2-72A6DACA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按本例政策，应由研发部负责人李敏审批</a:t>
            </a:r>
          </a:p>
        </p:txBody>
      </p:sp>
      <p:sp>
        <p:nvSpPr>
          <p:cNvPr id="8" name="p11-text-261">
            <a:extLst xmlns:a="http://schemas.openxmlformats.org/drawingml/2006/main">
              <a:ext uri="{FF2B5EF4-FFF2-40B4-BE49-F238E27FC236}">
                <a16:creationId xmlns:a16="http://schemas.microsoft.com/office/drawing/2014/main" id="{A71FA927-5D46-4974-B82D-BE8AD7A4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教学推演，未调用真实业务系统。</a:t>
            </a:r>
          </a:p>
        </p:txBody>
      </p:sp>
      <p:sp>
        <p:nvSpPr>
          <p:cNvPr id="9" name="p11-text-262">
            <a:extLst xmlns:a="http://schemas.openxmlformats.org/drawingml/2006/main">
              <a:ext uri="{FF2B5EF4-FFF2-40B4-BE49-F238E27FC236}">
                <a16:creationId xmlns:a16="http://schemas.microsoft.com/office/drawing/2014/main" id="{FAADA179-1544-4055-9A9D-150A8A4A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11 / 18</a:t>
            </a:r>
          </a:p>
        </p:txBody>
      </p:sp>
      <p:sp>
        <p:nvSpPr>
          <p:cNvPr id="10" name="p11-text-263">
            <a:extLst xmlns:a="http://schemas.openxmlformats.org/drawingml/2006/main">
              <a:ext uri="{FF2B5EF4-FFF2-40B4-BE49-F238E27FC236}">
                <a16:creationId xmlns:a16="http://schemas.microsoft.com/office/drawing/2014/main" id="{9CF5136F-06CB-4AE8-B1C3-3E6469C3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01 取得语义</a:t>
            </a:r>
          </a:p>
        </p:txBody>
      </p:sp>
      <p:sp>
        <p:nvSpPr>
          <p:cNvPr id="11" name="p11-shape-264">
            <a:extLst xmlns:a="http://schemas.openxmlformats.org/drawingml/2006/main">
              <a:ext uri="{FF2B5EF4-FFF2-40B4-BE49-F238E27FC236}">
                <a16:creationId xmlns:a16="http://schemas.microsoft.com/office/drawing/2014/main" id="{B641E0B0-5310-4912-916E-2FEA673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16154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1-text-265">
            <a:extLst xmlns:a="http://schemas.openxmlformats.org/drawingml/2006/main">
              <a:ext uri="{FF2B5EF4-FFF2-40B4-BE49-F238E27FC236}">
                <a16:creationId xmlns:a16="http://schemas.microsoft.com/office/drawing/2014/main" id="{8FBC5EC6-D44A-4153-A540-CA37AF3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15497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此类差旅由申请人当前所属部门的负责人审批</a:t>
            </a:r>
          </a:p>
        </p:txBody>
      </p:sp>
      <p:sp>
        <p:nvSpPr>
          <p:cNvPr id="13" name="p11-text-266">
            <a:extLst xmlns:a="http://schemas.openxmlformats.org/drawingml/2006/main">
              <a:ext uri="{FF2B5EF4-FFF2-40B4-BE49-F238E27FC236}">
                <a16:creationId xmlns:a16="http://schemas.microsoft.com/office/drawing/2014/main" id="{01B5A2AC-CF8B-4938-8F83-8786723A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02 查询事实</a:t>
            </a:r>
          </a:p>
        </p:txBody>
      </p:sp>
      <p:sp>
        <p:nvSpPr>
          <p:cNvPr id="14" name="p11-shape-267">
            <a:extLst xmlns:a="http://schemas.openxmlformats.org/drawingml/2006/main">
              <a:ext uri="{FF2B5EF4-FFF2-40B4-BE49-F238E27FC236}">
                <a16:creationId xmlns:a16="http://schemas.microsoft.com/office/drawing/2014/main" id="{D9592795-34DA-48B3-8E18-F8CCB67A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2667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5" name="p11-text-268">
            <a:extLst xmlns:a="http://schemas.openxmlformats.org/drawingml/2006/main">
              <a:ext uri="{FF2B5EF4-FFF2-40B4-BE49-F238E27FC236}">
                <a16:creationId xmlns:a16="http://schemas.microsoft.com/office/drawing/2014/main" id="{32C9DEA5-CB3B-4F30-B104-3D6AD3A9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45493"/>
            <a:ext cx="2438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T-101</a:t>
            </a:r>
          </a:p>
        </p:txBody>
      </p:sp>
      <p:sp>
        <p:nvSpPr>
          <p:cNvPr id="16" name="p11-shape-269">
            <a:extLst xmlns:a="http://schemas.openxmlformats.org/drawingml/2006/main">
              <a:ext uri="{FF2B5EF4-FFF2-40B4-BE49-F238E27FC236}">
                <a16:creationId xmlns:a16="http://schemas.microsoft.com/office/drawing/2014/main" id="{057E093B-57B0-4CBD-987D-EF12C4F6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629275"/>
            <a:ext cx="2667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7" name="p11-text-270">
            <a:extLst xmlns:a="http://schemas.openxmlformats.org/drawingml/2006/main">
              <a:ext uri="{FF2B5EF4-FFF2-40B4-BE49-F238E27FC236}">
                <a16:creationId xmlns:a16="http://schemas.microsoft.com/office/drawing/2014/main" id="{9FC6AD20-CC99-4F9C-A0C0-3F0B44B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45493"/>
            <a:ext cx="2438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18" name="p11-shape-271">
            <a:extLst xmlns:a="http://schemas.openxmlformats.org/drawingml/2006/main">
              <a:ext uri="{FF2B5EF4-FFF2-40B4-BE49-F238E27FC236}">
                <a16:creationId xmlns:a16="http://schemas.microsoft.com/office/drawing/2014/main" id="{E911A810-95B4-4FC5-BB2C-B439EE3F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29275"/>
            <a:ext cx="2667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9" name="p11-text-272">
            <a:extLst xmlns:a="http://schemas.openxmlformats.org/drawingml/2006/main">
              <a:ext uri="{FF2B5EF4-FFF2-40B4-BE49-F238E27FC236}">
                <a16:creationId xmlns:a16="http://schemas.microsoft.com/office/drawing/2014/main" id="{C59E8821-3FF5-4113-8BAC-B2B10A38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845493"/>
            <a:ext cx="2438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研发部</a:t>
            </a:r>
          </a:p>
        </p:txBody>
      </p:sp>
      <p:sp>
        <p:nvSpPr>
          <p:cNvPr id="20" name="p11-shape-273">
            <a:extLst xmlns:a="http://schemas.openxmlformats.org/drawingml/2006/main">
              <a:ext uri="{FF2B5EF4-FFF2-40B4-BE49-F238E27FC236}">
                <a16:creationId xmlns:a16="http://schemas.microsoft.com/office/drawing/2014/main" id="{2A106F76-DEB4-443F-B321-FCD07213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5629275"/>
            <a:ext cx="24384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1-text-274">
            <a:extLst xmlns:a="http://schemas.openxmlformats.org/drawingml/2006/main">
              <a:ext uri="{FF2B5EF4-FFF2-40B4-BE49-F238E27FC236}">
                <a16:creationId xmlns:a16="http://schemas.microsoft.com/office/drawing/2014/main" id="{D2FE22C5-CD4E-45F0-95A8-95F00CEE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5845493"/>
            <a:ext cx="22098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李敏</a:t>
            </a:r>
          </a:p>
        </p:txBody>
      </p:sp>
      <p:cxnSp>
        <p:nvCxnSpPr>
          <p:cNvPr id="56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733800" y="6072188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3" name="p11-text-275">
            <a:extLst xmlns:a="http://schemas.openxmlformats.org/drawingml/2006/main">
              <a:ext uri="{FF2B5EF4-FFF2-40B4-BE49-F238E27FC236}">
                <a16:creationId xmlns:a16="http://schemas.microsoft.com/office/drawing/2014/main" id="{92FD7CB0-BF29-4FC8-9B5D-58D0DF44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76925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申请人</a:t>
            </a:r>
          </a:p>
        </p:txBody>
      </p:sp>
      <p:cxnSp>
        <p:nvCxnSpPr>
          <p:cNvPr id="5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305800" y="6072188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5" name="p11-text-276">
            <a:extLst xmlns:a="http://schemas.openxmlformats.org/drawingml/2006/main">
              <a:ext uri="{FF2B5EF4-FFF2-40B4-BE49-F238E27FC236}">
                <a16:creationId xmlns:a16="http://schemas.microsoft.com/office/drawing/2014/main" id="{85FFE85F-B6CD-4993-81F5-74C93DCC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76925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2877800" y="6072188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7" name="p11-text-277">
            <a:extLst xmlns:a="http://schemas.openxmlformats.org/drawingml/2006/main">
              <a:ext uri="{FF2B5EF4-FFF2-40B4-BE49-F238E27FC236}">
                <a16:creationId xmlns:a16="http://schemas.microsoft.com/office/drawing/2014/main" id="{A5A24856-E9B6-4DBA-9820-E12F861F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876925"/>
            <a:ext cx="1571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负责人</a:t>
            </a:r>
          </a:p>
        </p:txBody>
      </p:sp>
      <p:sp>
        <p:nvSpPr>
          <p:cNvPr id="28" name="p11-text-278">
            <a:extLst xmlns:a="http://schemas.openxmlformats.org/drawingml/2006/main">
              <a:ext uri="{FF2B5EF4-FFF2-40B4-BE49-F238E27FC236}">
                <a16:creationId xmlns:a16="http://schemas.microsoft.com/office/drawing/2014/main" id="{FDF274A0-66A8-4E0C-816A-B1044187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960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差旅系统</a:t>
            </a:r>
          </a:p>
        </p:txBody>
      </p:sp>
      <p:sp>
        <p:nvSpPr>
          <p:cNvPr id="29" name="p11-text-279">
            <a:extLst xmlns:a="http://schemas.openxmlformats.org/drawingml/2006/main">
              <a:ext uri="{FF2B5EF4-FFF2-40B4-BE49-F238E27FC236}">
                <a16:creationId xmlns:a16="http://schemas.microsoft.com/office/drawing/2014/main" id="{1CC68F3E-B73E-4A6C-8E11-9FED5A7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696075"/>
            <a:ext cx="701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人事系统</a:t>
            </a:r>
          </a:p>
        </p:txBody>
      </p:sp>
      <p:sp>
        <p:nvSpPr>
          <p:cNvPr id="30" name="p11-shape-280">
            <a:extLst xmlns:a="http://schemas.openxmlformats.org/drawingml/2006/main">
              <a:ext uri="{FF2B5EF4-FFF2-40B4-BE49-F238E27FC236}">
                <a16:creationId xmlns:a16="http://schemas.microsoft.com/office/drawing/2014/main" id="{9D8BD440-C751-4EB9-8D54-35D6440C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771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31" name="p11-text-281">
            <a:extLst xmlns:a="http://schemas.openxmlformats.org/drawingml/2006/main">
              <a:ext uri="{FF2B5EF4-FFF2-40B4-BE49-F238E27FC236}">
                <a16:creationId xmlns:a16="http://schemas.microsoft.com/office/drawing/2014/main" id="{5D4E008B-5440-4AF1-9774-D50B098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723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03 结合政策判断</a:t>
            </a:r>
          </a:p>
        </p:txBody>
      </p:sp>
      <p:sp>
        <p:nvSpPr>
          <p:cNvPr id="32" name="p11-text-282">
            <a:extLst xmlns:a="http://schemas.openxmlformats.org/drawingml/2006/main">
              <a:ext uri="{FF2B5EF4-FFF2-40B4-BE49-F238E27FC236}">
                <a16:creationId xmlns:a16="http://schemas.microsoft.com/office/drawing/2014/main" id="{13C98C16-37EB-40E8-8287-AC68ABAB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581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选择“所属部门负责人”这条路径</a:t>
            </a:r>
          </a:p>
        </p:txBody>
      </p:sp>
      <p:sp>
        <p:nvSpPr>
          <p:cNvPr id="33" name="p11-text-283">
            <a:extLst xmlns:a="http://schemas.openxmlformats.org/drawingml/2006/main">
              <a:ext uri="{FF2B5EF4-FFF2-40B4-BE49-F238E27FC236}">
                <a16:creationId xmlns:a16="http://schemas.microsoft.com/office/drawing/2014/main" id="{F2242B29-F78F-427F-9AB2-074B158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572375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04 给出答案与依据</a:t>
            </a:r>
          </a:p>
        </p:txBody>
      </p:sp>
      <p:sp>
        <p:nvSpPr>
          <p:cNvPr id="34" name="p11-text-284">
            <a:extLst xmlns:a="http://schemas.openxmlformats.org/drawingml/2006/main">
              <a:ext uri="{FF2B5EF4-FFF2-40B4-BE49-F238E27FC236}">
                <a16:creationId xmlns:a16="http://schemas.microsoft.com/office/drawing/2014/main" id="{0CC21D1C-6236-4F7D-9C27-BD97185E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0581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张三属于研发部，李敏担任该部门负责人</a:t>
            </a:r>
          </a:p>
        </p:txBody>
      </p:sp>
    </p:spTree>
    <p:extLst>
      <p:ext uri="{BB962C8B-B14F-4D97-AF65-F5344CB8AC3E}">
        <p14:creationId xmlns:p14="http://schemas.microsoft.com/office/powerpoint/2010/main" val="15969213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12-shape-285">
            <a:extLst xmlns:a="http://schemas.openxmlformats.org/drawingml/2006/main">
              <a:ext uri="{FF2B5EF4-FFF2-40B4-BE49-F238E27FC236}">
                <a16:creationId xmlns:a16="http://schemas.microsoft.com/office/drawing/2014/main" id="{B4DC2E1B-4EAF-4E86-9F23-4BDB030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2-text-286">
            <a:extLst xmlns:a="http://schemas.openxmlformats.org/drawingml/2006/main">
              <a:ext uri="{FF2B5EF4-FFF2-40B4-BE49-F238E27FC236}">
                <a16:creationId xmlns:a16="http://schemas.microsoft.com/office/drawing/2014/main" id="{0F4E5BB7-EA44-48CF-BB0A-EEE5A9DA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2-text-287">
            <a:extLst xmlns:a="http://schemas.openxmlformats.org/drawingml/2006/main">
              <a:ext uri="{FF2B5EF4-FFF2-40B4-BE49-F238E27FC236}">
                <a16:creationId xmlns:a16="http://schemas.microsoft.com/office/drawing/2014/main" id="{B18E9D6E-2003-4ED4-BFFC-5D2400A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02 / 表达与使用</a:t>
            </a:r>
          </a:p>
        </p:txBody>
      </p:sp>
      <p:sp>
        <p:nvSpPr>
          <p:cNvPr id="4" name="p12-title">
            <a:extLst xmlns:a="http://schemas.openxmlformats.org/drawingml/2006/main">
              <a:ext uri="{FF2B5EF4-FFF2-40B4-BE49-F238E27FC236}">
                <a16:creationId xmlns:a16="http://schemas.microsoft.com/office/drawing/2014/main" id="{ECDA72FF-0094-4F57-ADED-CF666B2E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资料检索、本体与工具怎样配合</a:t>
            </a:r>
          </a:p>
        </p:txBody>
      </p:sp>
      <p:sp>
        <p:nvSpPr>
          <p:cNvPr id="5" name="p12-text-288">
            <a:extLst xmlns:a="http://schemas.openxmlformats.org/drawingml/2006/main">
              <a:ext uri="{FF2B5EF4-FFF2-40B4-BE49-F238E27FC236}">
                <a16:creationId xmlns:a16="http://schemas.microsoft.com/office/drawing/2014/main" id="{9E6FFECD-01AE-4A39-AFC8-2FAA2CCB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同一个业务问题，可以同时使用不同来源的帮助</a:t>
            </a:r>
          </a:p>
        </p:txBody>
      </p:sp>
      <p:sp>
        <p:nvSpPr>
          <p:cNvPr id="6" name="p12-shape-289">
            <a:extLst xmlns:a="http://schemas.openxmlformats.org/drawingml/2006/main">
              <a:ext uri="{FF2B5EF4-FFF2-40B4-BE49-F238E27FC236}">
                <a16:creationId xmlns:a16="http://schemas.microsoft.com/office/drawing/2014/main" id="{8F0FA7A2-CC1A-4CC6-9BE5-92F99D25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2-text-290">
            <a:extLst xmlns:a="http://schemas.openxmlformats.org/drawingml/2006/main">
              <a:ext uri="{FF2B5EF4-FFF2-40B4-BE49-F238E27FC236}">
                <a16:creationId xmlns:a16="http://schemas.microsoft.com/office/drawing/2014/main" id="{177B08CE-F74B-4EC3-A7AD-CA3103B2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明确的语义可以与资料检索、业务数据和工具一起使用</a:t>
            </a:r>
          </a:p>
        </p:txBody>
      </p:sp>
      <p:sp>
        <p:nvSpPr>
          <p:cNvPr id="8" name="p12-text-291">
            <a:extLst xmlns:a="http://schemas.openxmlformats.org/drawingml/2006/main">
              <a:ext uri="{FF2B5EF4-FFF2-40B4-BE49-F238E27FC236}">
                <a16:creationId xmlns:a16="http://schemas.microsoft.com/office/drawing/2014/main" id="{E62809E8-60C7-42DC-8B5E-265C57D8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这些能力可以重叠组合，本体内容也可以成为检索对象。</a:t>
            </a:r>
          </a:p>
        </p:txBody>
      </p:sp>
      <p:sp>
        <p:nvSpPr>
          <p:cNvPr id="9" name="p12-text-292">
            <a:extLst xmlns:a="http://schemas.openxmlformats.org/drawingml/2006/main">
              <a:ext uri="{FF2B5EF4-FFF2-40B4-BE49-F238E27FC236}">
                <a16:creationId xmlns:a16="http://schemas.microsoft.com/office/drawing/2014/main" id="{58B259ED-C7C5-4728-BA85-611FA60D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12 / 18</a:t>
            </a:r>
          </a:p>
        </p:txBody>
      </p:sp>
      <p:sp>
        <p:nvSpPr>
          <p:cNvPr id="10" name="p12-shape-293">
            <a:extLst xmlns:a="http://schemas.openxmlformats.org/drawingml/2006/main">
              <a:ext uri="{FF2B5EF4-FFF2-40B4-BE49-F238E27FC236}">
                <a16:creationId xmlns:a16="http://schemas.microsoft.com/office/drawing/2014/main" id="{B13CB44F-E2BA-4366-B6F1-857081F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89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1" name="p12-text-294">
            <a:extLst xmlns:a="http://schemas.openxmlformats.org/drawingml/2006/main">
              <a:ext uri="{FF2B5EF4-FFF2-40B4-BE49-F238E27FC236}">
                <a16:creationId xmlns:a16="http://schemas.microsoft.com/office/drawing/2014/main" id="{2BD11F3D-02F0-4CDB-9D9E-8B4F181B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6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rPr>
              <a:t>01</a:t>
            </a:r>
          </a:p>
        </p:txBody>
      </p:sp>
      <p:sp>
        <p:nvSpPr>
          <p:cNvPr id="12" name="p12-text-295">
            <a:extLst xmlns:a="http://schemas.openxmlformats.org/drawingml/2006/main">
              <a:ext uri="{FF2B5EF4-FFF2-40B4-BE49-F238E27FC236}">
                <a16:creationId xmlns:a16="http://schemas.microsoft.com/office/drawing/2014/main" id="{6783E5D0-6D54-4BCE-ADAB-A5E53556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资料检索</a:t>
            </a:r>
          </a:p>
        </p:txBody>
      </p:sp>
      <p:sp>
        <p:nvSpPr>
          <p:cNvPr id="13" name="p12-text-296">
            <a:extLst xmlns:a="http://schemas.openxmlformats.org/drawingml/2006/main">
              <a:ext uri="{FF2B5EF4-FFF2-40B4-BE49-F238E27FC236}">
                <a16:creationId xmlns:a16="http://schemas.microsoft.com/office/drawing/2014/main" id="{3334E39A-DBD0-44D2-995C-83D62EEA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找到相关材料与上下文</a:t>
            </a:r>
          </a:p>
        </p:txBody>
      </p:sp>
      <p:sp>
        <p:nvSpPr>
          <p:cNvPr id="14" name="p12-shape-297">
            <a:extLst xmlns:a="http://schemas.openxmlformats.org/drawingml/2006/main">
              <a:ext uri="{FF2B5EF4-FFF2-40B4-BE49-F238E27FC236}">
                <a16:creationId xmlns:a16="http://schemas.microsoft.com/office/drawing/2014/main" id="{5BCD8DF5-D767-4088-B5C5-13F91BB4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5" name="p12-text-298">
            <a:extLst xmlns:a="http://schemas.openxmlformats.org/drawingml/2006/main">
              <a:ext uri="{FF2B5EF4-FFF2-40B4-BE49-F238E27FC236}">
                <a16:creationId xmlns:a16="http://schemas.microsoft.com/office/drawing/2014/main" id="{B5E9B6F1-14AD-437C-B280-61F1BAFF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6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rPr>
              <a:t>02</a:t>
            </a:r>
          </a:p>
        </p:txBody>
      </p:sp>
      <p:sp>
        <p:nvSpPr>
          <p:cNvPr id="16" name="p12-text-299">
            <a:extLst xmlns:a="http://schemas.openxmlformats.org/drawingml/2006/main">
              <a:ext uri="{FF2B5EF4-FFF2-40B4-BE49-F238E27FC236}">
                <a16:creationId xmlns:a16="http://schemas.microsoft.com/office/drawing/2014/main" id="{2E2F6B00-DEDF-46A4-BFA9-8387BA39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本体与语义检索</a:t>
            </a:r>
          </a:p>
        </p:txBody>
      </p:sp>
      <p:sp>
        <p:nvSpPr>
          <p:cNvPr id="17" name="p12-text-300">
            <a:extLst xmlns:a="http://schemas.openxmlformats.org/drawingml/2006/main">
              <a:ext uri="{FF2B5EF4-FFF2-40B4-BE49-F238E27FC236}">
                <a16:creationId xmlns:a16="http://schemas.microsoft.com/office/drawing/2014/main" id="{262F5657-21CF-4267-B663-B6DFF281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取得明确的定义与关联</a:t>
            </a:r>
          </a:p>
        </p:txBody>
      </p:sp>
      <p:sp>
        <p:nvSpPr>
          <p:cNvPr id="18" name="p12-shape-301">
            <a:extLst xmlns:a="http://schemas.openxmlformats.org/drawingml/2006/main">
              <a:ext uri="{FF2B5EF4-FFF2-40B4-BE49-F238E27FC236}">
                <a16:creationId xmlns:a16="http://schemas.microsoft.com/office/drawing/2014/main" id="{3EC09727-BC78-4697-8453-9CA1064A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289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9" name="p12-text-302">
            <a:extLst xmlns:a="http://schemas.openxmlformats.org/drawingml/2006/main">
              <a:ext uri="{FF2B5EF4-FFF2-40B4-BE49-F238E27FC236}">
                <a16:creationId xmlns:a16="http://schemas.microsoft.com/office/drawing/2014/main" id="{F4DDAAFB-C6AE-4A53-AF1B-01FD70DF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4671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6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rPr>
              <a:t>03</a:t>
            </a:r>
          </a:p>
        </p:txBody>
      </p:sp>
      <p:sp>
        <p:nvSpPr>
          <p:cNvPr id="20" name="p12-text-303">
            <a:extLst xmlns:a="http://schemas.openxmlformats.org/drawingml/2006/main">
              <a:ext uri="{FF2B5EF4-FFF2-40B4-BE49-F238E27FC236}">
                <a16:creationId xmlns:a16="http://schemas.microsoft.com/office/drawing/2014/main" id="{1CAEF02B-484B-4D77-B563-D7FB782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191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工具与业务系统</a:t>
            </a:r>
          </a:p>
        </p:txBody>
      </p:sp>
      <p:sp>
        <p:nvSpPr>
          <p:cNvPr id="21" name="p12-text-304">
            <a:extLst xmlns:a="http://schemas.openxmlformats.org/drawingml/2006/main">
              <a:ext uri="{FF2B5EF4-FFF2-40B4-BE49-F238E27FC236}">
                <a16:creationId xmlns:a16="http://schemas.microsoft.com/office/drawing/2014/main" id="{F087EE7C-8C4A-495D-A085-421BE548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819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读取事实，完成获准操作</a:t>
            </a:r>
          </a:p>
        </p:txBody>
      </p:sp>
      <p:sp>
        <p:nvSpPr>
          <p:cNvPr id="22" name="p12-text-305">
            <a:extLst xmlns:a="http://schemas.openxmlformats.org/drawingml/2006/main">
              <a:ext uri="{FF2B5EF4-FFF2-40B4-BE49-F238E27FC236}">
                <a16:creationId xmlns:a16="http://schemas.microsoft.com/office/drawing/2014/main" id="{BF557C6E-ACDD-4DCA-96F8-DD4E6CC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62675"/>
            <a:ext cx="4762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找到差旅制度中的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审批条款</a:t>
            </a:r>
          </a:p>
        </p:txBody>
      </p:sp>
      <p:sp>
        <p:nvSpPr>
          <p:cNvPr id="23" name="p12-text-306">
            <a:extLst xmlns:a="http://schemas.openxmlformats.org/drawingml/2006/main">
              <a:ext uri="{FF2B5EF4-FFF2-40B4-BE49-F238E27FC236}">
                <a16:creationId xmlns:a16="http://schemas.microsoft.com/office/drawing/2014/main" id="{30F70FEA-0053-4CAC-8BD4-3528E1F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162675"/>
            <a:ext cx="4762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理解“所属部门负责人”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对应的业务路径</a:t>
            </a:r>
          </a:p>
        </p:txBody>
      </p:sp>
      <p:sp>
        <p:nvSpPr>
          <p:cNvPr id="24" name="p12-text-307">
            <a:extLst xmlns:a="http://schemas.openxmlformats.org/drawingml/2006/main">
              <a:ext uri="{FF2B5EF4-FFF2-40B4-BE49-F238E27FC236}">
                <a16:creationId xmlns:a16="http://schemas.microsoft.com/office/drawing/2014/main" id="{62292F2A-B533-45AC-ACCF-3233C239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162675"/>
            <a:ext cx="4762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查询当前负责人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按授权提交差旅申请</a:t>
            </a:r>
          </a:p>
        </p:txBody>
      </p:sp>
      <p:sp>
        <p:nvSpPr>
          <p:cNvPr id="25" name="p12-shape-308">
            <a:extLst xmlns:a="http://schemas.openxmlformats.org/drawingml/2006/main">
              <a:ext uri="{FF2B5EF4-FFF2-40B4-BE49-F238E27FC236}">
                <a16:creationId xmlns:a16="http://schemas.microsoft.com/office/drawing/2014/main" id="{1EC365B6-BB0A-4E7D-95D5-9CE25C48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0095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26" name="p12-text-309">
            <a:extLst xmlns:a="http://schemas.openxmlformats.org/drawingml/2006/main">
              <a:ext uri="{FF2B5EF4-FFF2-40B4-BE49-F238E27FC236}">
                <a16:creationId xmlns:a16="http://schemas.microsoft.com/office/drawing/2014/main" id="{4DD2867E-A090-4434-82B2-15E356FC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29575"/>
            <a:ext cx="1615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7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共同支持 Agent 对同一个业务问题的判断</a:t>
            </a:r>
          </a:p>
        </p:txBody>
      </p:sp>
    </p:spTree>
    <p:extLst>
      <p:ext uri="{BB962C8B-B14F-4D97-AF65-F5344CB8AC3E}">
        <p14:creationId xmlns:p14="http://schemas.microsoft.com/office/powerpoint/2010/main" val="8779773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13-shape-310">
            <a:extLst xmlns:a="http://schemas.openxmlformats.org/drawingml/2006/main">
              <a:ext uri="{FF2B5EF4-FFF2-40B4-BE49-F238E27FC236}">
                <a16:creationId xmlns:a16="http://schemas.microsoft.com/office/drawing/2014/main" id="{AF6BFFB5-800C-4295-846D-C868D6A0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3-text-311">
            <a:extLst xmlns:a="http://schemas.openxmlformats.org/drawingml/2006/main">
              <a:ext uri="{FF2B5EF4-FFF2-40B4-BE49-F238E27FC236}">
                <a16:creationId xmlns:a16="http://schemas.microsoft.com/office/drawing/2014/main" id="{68BD57DF-B066-4BC7-B1C3-008A3002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3-text-312">
            <a:extLst xmlns:a="http://schemas.openxmlformats.org/drawingml/2006/main">
              <a:ext uri="{FF2B5EF4-FFF2-40B4-BE49-F238E27FC236}">
                <a16:creationId xmlns:a16="http://schemas.microsoft.com/office/drawing/2014/main" id="{B66F51DA-BE60-461A-AF8F-5FCD890B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02 / 表达与使用</a:t>
            </a:r>
          </a:p>
        </p:txBody>
      </p:sp>
      <p:sp>
        <p:nvSpPr>
          <p:cNvPr id="4" name="p13-title">
            <a:extLst xmlns:a="http://schemas.openxmlformats.org/drawingml/2006/main">
              <a:ext uri="{FF2B5EF4-FFF2-40B4-BE49-F238E27FC236}">
                <a16:creationId xmlns:a16="http://schemas.microsoft.com/office/drawing/2014/main" id="{16EC9CF6-8DD6-4615-A4A0-5CE4F284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多个 Agent 可以引用同一套定义</a:t>
            </a:r>
          </a:p>
        </p:txBody>
      </p:sp>
      <p:sp>
        <p:nvSpPr>
          <p:cNvPr id="5" name="p13-text-313">
            <a:extLst xmlns:a="http://schemas.openxmlformats.org/drawingml/2006/main">
              <a:ext uri="{FF2B5EF4-FFF2-40B4-BE49-F238E27FC236}">
                <a16:creationId xmlns:a16="http://schemas.microsoft.com/office/drawing/2014/main" id="{248A00B6-EBEE-4C70-B0AE-7A202B71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共同使用业务含义，各自完成不同任务</a:t>
            </a:r>
          </a:p>
        </p:txBody>
      </p:sp>
      <p:sp>
        <p:nvSpPr>
          <p:cNvPr id="6" name="p13-shape-314">
            <a:extLst xmlns:a="http://schemas.openxmlformats.org/drawingml/2006/main">
              <a:ext uri="{FF2B5EF4-FFF2-40B4-BE49-F238E27FC236}">
                <a16:creationId xmlns:a16="http://schemas.microsoft.com/office/drawing/2014/main" id="{27FA6724-58B4-4726-980E-D955656B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3-text-315">
            <a:extLst xmlns:a="http://schemas.openxmlformats.org/drawingml/2006/main">
              <a:ext uri="{FF2B5EF4-FFF2-40B4-BE49-F238E27FC236}">
                <a16:creationId xmlns:a16="http://schemas.microsoft.com/office/drawing/2014/main" id="{4D4796E0-6BE1-4AF9-A336-C1B0D4ED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共享语义的价值，会在跨任务和跨系统的复用中体现</a:t>
            </a:r>
          </a:p>
        </p:txBody>
      </p:sp>
      <p:sp>
        <p:nvSpPr>
          <p:cNvPr id="8" name="p13-text-316">
            <a:extLst xmlns:a="http://schemas.openxmlformats.org/drawingml/2006/main">
              <a:ext uri="{FF2B5EF4-FFF2-40B4-BE49-F238E27FC236}">
                <a16:creationId xmlns:a16="http://schemas.microsoft.com/office/drawing/2014/main" id="{7ABE8B47-E0DE-4B1F-8057-783C9A5E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各 Agent 按自身权限与适用范围读取知识。</a:t>
            </a:r>
          </a:p>
        </p:txBody>
      </p:sp>
      <p:sp>
        <p:nvSpPr>
          <p:cNvPr id="9" name="p13-text-317">
            <a:extLst xmlns:a="http://schemas.openxmlformats.org/drawingml/2006/main">
              <a:ext uri="{FF2B5EF4-FFF2-40B4-BE49-F238E27FC236}">
                <a16:creationId xmlns:a16="http://schemas.microsoft.com/office/drawing/2014/main" id="{EA15AD83-09A0-4065-9C5F-A89FB947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13 / 18</a:t>
            </a:r>
          </a:p>
        </p:txBody>
      </p:sp>
      <p:sp>
        <p:nvSpPr>
          <p:cNvPr id="10" name="p13-shape-318">
            <a:extLst xmlns:a="http://schemas.openxmlformats.org/drawingml/2006/main">
              <a:ext uri="{FF2B5EF4-FFF2-40B4-BE49-F238E27FC236}">
                <a16:creationId xmlns:a16="http://schemas.microsoft.com/office/drawing/2014/main" id="{9F354930-59B6-481B-B489-CBE6C4E3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742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3-text-319">
            <a:extLst xmlns:a="http://schemas.openxmlformats.org/drawingml/2006/main">
              <a:ext uri="{FF2B5EF4-FFF2-40B4-BE49-F238E27FC236}">
                <a16:creationId xmlns:a16="http://schemas.microsoft.com/office/drawing/2014/main" id="{94EA24E9-9ACA-42A1-820C-2C744CE2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48050"/>
            <a:ext cx="72009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31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共同的领域语义</a:t>
            </a:r>
          </a:p>
        </p:txBody>
      </p:sp>
      <p:sp>
        <p:nvSpPr>
          <p:cNvPr id="12" name="p13-text-320">
            <a:extLst xmlns:a="http://schemas.openxmlformats.org/drawingml/2006/main">
              <a:ext uri="{FF2B5EF4-FFF2-40B4-BE49-F238E27FC236}">
                <a16:creationId xmlns:a16="http://schemas.microsoft.com/office/drawing/2014/main" id="{7C430BF6-D275-46B6-A2E8-C3D7AFDB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01465"/>
            <a:ext cx="7239000" cy="63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员工、所属部门、部门负责人</a:t>
            </a:r>
          </a:p>
        </p:txBody>
      </p:sp>
      <p:sp>
        <p:nvSpPr>
          <p:cNvPr id="13" name="p13-shape-321">
            <a:extLst xmlns:a="http://schemas.openxmlformats.org/drawingml/2006/main">
              <a:ext uri="{FF2B5EF4-FFF2-40B4-BE49-F238E27FC236}">
                <a16:creationId xmlns:a16="http://schemas.microsoft.com/office/drawing/2014/main" id="{F99E5AE9-B4CC-4453-80AE-30E41A24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48425"/>
            <a:ext cx="457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4" name="p13-text-322">
            <a:extLst xmlns:a="http://schemas.openxmlformats.org/drawingml/2006/main">
              <a:ext uri="{FF2B5EF4-FFF2-40B4-BE49-F238E27FC236}">
                <a16:creationId xmlns:a16="http://schemas.microsoft.com/office/drawing/2014/main" id="{25D4666C-A1B6-445F-A212-ABBE38F2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657975"/>
            <a:ext cx="4343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差旅助手</a:t>
            </a:r>
          </a:p>
        </p:txBody>
      </p:sp>
      <p:sp>
        <p:nvSpPr>
          <p:cNvPr id="15" name="p13-text-323">
            <a:extLst xmlns:a="http://schemas.openxmlformats.org/drawingml/2006/main">
              <a:ext uri="{FF2B5EF4-FFF2-40B4-BE49-F238E27FC236}">
                <a16:creationId xmlns:a16="http://schemas.microsoft.com/office/drawing/2014/main" id="{7EB9D515-72C9-4842-9D6F-64528811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212330"/>
            <a:ext cx="4381500" cy="541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找到这张申请的审批人</a:t>
            </a:r>
          </a:p>
        </p:txBody>
      </p:sp>
      <p:sp>
        <p:nvSpPr>
          <p:cNvPr id="16" name="p13-shape-324">
            <a:extLst xmlns:a="http://schemas.openxmlformats.org/drawingml/2006/main">
              <a:ext uri="{FF2B5EF4-FFF2-40B4-BE49-F238E27FC236}">
                <a16:creationId xmlns:a16="http://schemas.microsoft.com/office/drawing/2014/main" id="{7EA88FE5-045F-44F4-8C2F-652A97F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48425"/>
            <a:ext cx="457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7" name="p13-text-325">
            <a:extLst xmlns:a="http://schemas.openxmlformats.org/drawingml/2006/main">
              <a:ext uri="{FF2B5EF4-FFF2-40B4-BE49-F238E27FC236}">
                <a16:creationId xmlns:a16="http://schemas.microsoft.com/office/drawing/2014/main" id="{CAC924AE-F113-42D4-8B04-251C5A71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57975"/>
            <a:ext cx="4343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报表助手</a:t>
            </a:r>
          </a:p>
        </p:txBody>
      </p:sp>
      <p:sp>
        <p:nvSpPr>
          <p:cNvPr id="18" name="p13-text-326">
            <a:extLst xmlns:a="http://schemas.openxmlformats.org/drawingml/2006/main">
              <a:ext uri="{FF2B5EF4-FFF2-40B4-BE49-F238E27FC236}">
                <a16:creationId xmlns:a16="http://schemas.microsoft.com/office/drawing/2014/main" id="{C7CAD867-B6B9-43B4-B83E-DA599080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212330"/>
            <a:ext cx="4381500" cy="541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按申请人所属部门统计申请数</a:t>
            </a:r>
          </a:p>
        </p:txBody>
      </p:sp>
      <p:sp>
        <p:nvSpPr>
          <p:cNvPr id="19" name="p13-shape-327">
            <a:extLst xmlns:a="http://schemas.openxmlformats.org/drawingml/2006/main">
              <a:ext uri="{FF2B5EF4-FFF2-40B4-BE49-F238E27FC236}">
                <a16:creationId xmlns:a16="http://schemas.microsoft.com/office/drawing/2014/main" id="{C5E5FBE5-0A9F-4092-8604-F79C5F3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448425"/>
            <a:ext cx="457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20" name="p13-text-328">
            <a:extLst xmlns:a="http://schemas.openxmlformats.org/drawingml/2006/main">
              <a:ext uri="{FF2B5EF4-FFF2-40B4-BE49-F238E27FC236}">
                <a16:creationId xmlns:a16="http://schemas.microsoft.com/office/drawing/2014/main" id="{95CE955F-0991-45F8-9FCD-9D4AF3C6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657975"/>
            <a:ext cx="4343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组织助手</a:t>
            </a:r>
          </a:p>
        </p:txBody>
      </p:sp>
      <p:sp>
        <p:nvSpPr>
          <p:cNvPr id="21" name="p13-text-329">
            <a:extLst xmlns:a="http://schemas.openxmlformats.org/drawingml/2006/main">
              <a:ext uri="{FF2B5EF4-FFF2-40B4-BE49-F238E27FC236}">
                <a16:creationId xmlns:a16="http://schemas.microsoft.com/office/drawing/2014/main" id="{AB688F13-5EC3-4DE2-9F80-A17F6853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7212330"/>
            <a:ext cx="4381500" cy="541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查询研发部负责人</a:t>
            </a:r>
          </a:p>
        </p:txBody>
      </p:sp>
      <p:sp>
        <p:nvSpPr>
          <p:cNvPr id="22" name="p13-shape-330">
            <a:extLst xmlns:a="http://schemas.openxmlformats.org/drawingml/2006/main">
              <a:ext uri="{FF2B5EF4-FFF2-40B4-BE49-F238E27FC236}">
                <a16:creationId xmlns:a16="http://schemas.microsoft.com/office/drawing/2014/main" id="{1CEA5C3C-E90C-4E02-A8E1-77786644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52800" y="5286375"/>
            <a:ext cx="1158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3927E"/>
            </a:solidFill>
            <a:prstDash val="solid"/>
          </a:ln>
        </p:spPr>
      </p:sp>
      <p:sp>
        <p:nvSpPr>
          <p:cNvPr id="23" name="p13-shape-331">
            <a:extLst xmlns:a="http://schemas.openxmlformats.org/drawingml/2006/main">
              <a:ext uri="{FF2B5EF4-FFF2-40B4-BE49-F238E27FC236}">
                <a16:creationId xmlns:a16="http://schemas.microsoft.com/office/drawing/2014/main" id="{B8ED2C07-40F3-4EBC-99B8-60AEB443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52800" y="5286375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3927E"/>
            </a:solidFill>
            <a:prstDash val="solid"/>
          </a:ln>
        </p:spPr>
      </p:sp>
      <p:sp>
        <p:nvSpPr>
          <p:cNvPr id="24" name="p13-text-332">
            <a:extLst xmlns:a="http://schemas.openxmlformats.org/drawingml/2006/main">
              <a:ext uri="{FF2B5EF4-FFF2-40B4-BE49-F238E27FC236}">
                <a16:creationId xmlns:a16="http://schemas.microsoft.com/office/drawing/2014/main" id="{64B32A5C-440E-4D7D-A204-3C46BF6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197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引用定义</a:t>
            </a:r>
          </a:p>
        </p:txBody>
      </p:sp>
      <p:sp>
        <p:nvSpPr>
          <p:cNvPr id="25" name="p13-shape-333">
            <a:extLst xmlns:a="http://schemas.openxmlformats.org/drawingml/2006/main">
              <a:ext uri="{FF2B5EF4-FFF2-40B4-BE49-F238E27FC236}">
                <a16:creationId xmlns:a16="http://schemas.microsoft.com/office/drawing/2014/main" id="{4BE9597C-FB73-4691-9B02-65499D67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44000" y="5286375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3927E"/>
            </a:solidFill>
            <a:prstDash val="solid"/>
          </a:ln>
        </p:spPr>
      </p:sp>
      <p:sp>
        <p:nvSpPr>
          <p:cNvPr id="26" name="p13-text-334">
            <a:extLst xmlns:a="http://schemas.openxmlformats.org/drawingml/2006/main">
              <a:ext uri="{FF2B5EF4-FFF2-40B4-BE49-F238E27FC236}">
                <a16:creationId xmlns:a16="http://schemas.microsoft.com/office/drawing/2014/main" id="{06D9472E-8561-468F-8919-2199ACDF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197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引用定义</a:t>
            </a:r>
          </a:p>
        </p:txBody>
      </p:sp>
      <p:sp>
        <p:nvSpPr>
          <p:cNvPr id="27" name="p13-shape-335">
            <a:extLst xmlns:a="http://schemas.openxmlformats.org/drawingml/2006/main">
              <a:ext uri="{FF2B5EF4-FFF2-40B4-BE49-F238E27FC236}">
                <a16:creationId xmlns:a16="http://schemas.microsoft.com/office/drawing/2014/main" id="{5891D55E-544A-4B07-B78C-CBC9615F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935200" y="5286375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3927E"/>
            </a:solidFill>
            <a:prstDash val="solid"/>
          </a:ln>
        </p:spPr>
      </p:sp>
      <p:sp>
        <p:nvSpPr>
          <p:cNvPr id="28" name="p13-text-336">
            <a:extLst xmlns:a="http://schemas.openxmlformats.org/drawingml/2006/main">
              <a:ext uri="{FF2B5EF4-FFF2-40B4-BE49-F238E27FC236}">
                <a16:creationId xmlns:a16="http://schemas.microsoft.com/office/drawing/2014/main" id="{472A9A8E-56FC-42A6-AE73-40867858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56197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引用定义</a:t>
            </a:r>
          </a:p>
        </p:txBody>
      </p:sp>
      <p:sp>
        <p:nvSpPr>
          <p:cNvPr id="29" name="p13-shape-337">
            <a:extLst xmlns:a="http://schemas.openxmlformats.org/drawingml/2006/main">
              <a:ext uri="{FF2B5EF4-FFF2-40B4-BE49-F238E27FC236}">
                <a16:creationId xmlns:a16="http://schemas.microsoft.com/office/drawing/2014/main" id="{9FB3A016-44F6-4E29-A1FE-D672DC4B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276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0" name=""/>
          <p:cNvCxnSpPr>
            <a:stCxn xmlns:a="http://schemas.openxmlformats.org/drawingml/2006/main" id="2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9144000" y="481012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0598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14-shape-338">
            <a:extLst xmlns:a="http://schemas.openxmlformats.org/drawingml/2006/main">
              <a:ext uri="{FF2B5EF4-FFF2-40B4-BE49-F238E27FC236}">
                <a16:creationId xmlns:a16="http://schemas.microsoft.com/office/drawing/2014/main" id="{E4A2218C-4CDD-4642-8519-778FA250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4-text-339">
            <a:extLst xmlns:a="http://schemas.openxmlformats.org/drawingml/2006/main">
              <a:ext uri="{FF2B5EF4-FFF2-40B4-BE49-F238E27FC236}">
                <a16:creationId xmlns:a16="http://schemas.microsoft.com/office/drawing/2014/main" id="{B8FB3115-DCA9-4B17-84E2-463987B4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4-text-340">
            <a:extLst xmlns:a="http://schemas.openxmlformats.org/drawingml/2006/main">
              <a:ext uri="{FF2B5EF4-FFF2-40B4-BE49-F238E27FC236}">
                <a16:creationId xmlns:a16="http://schemas.microsoft.com/office/drawing/2014/main" id="{D1C410C8-D3B1-4B31-BA33-79794A78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03 / 建设与平台</a:t>
            </a:r>
          </a:p>
        </p:txBody>
      </p:sp>
      <p:sp>
        <p:nvSpPr>
          <p:cNvPr id="4" name="p14-title">
            <a:extLst xmlns:a="http://schemas.openxmlformats.org/drawingml/2006/main">
              <a:ext uri="{FF2B5EF4-FFF2-40B4-BE49-F238E27FC236}">
                <a16:creationId xmlns:a16="http://schemas.microsoft.com/office/drawing/2014/main" id="{FC38B059-7D8D-4364-8ABD-DC0332B7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一个有用的本体怎样建立</a:t>
            </a:r>
          </a:p>
        </p:txBody>
      </p:sp>
      <p:sp>
        <p:nvSpPr>
          <p:cNvPr id="5" name="p14-text-341">
            <a:extLst xmlns:a="http://schemas.openxmlformats.org/drawingml/2006/main">
              <a:ext uri="{FF2B5EF4-FFF2-40B4-BE49-F238E27FC236}">
                <a16:creationId xmlns:a16="http://schemas.microsoft.com/office/drawing/2014/main" id="{D80ACD07-C887-4144-AD33-5B1D0BA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从实际问题开始，回到实际问题验证</a:t>
            </a:r>
          </a:p>
        </p:txBody>
      </p:sp>
      <p:sp>
        <p:nvSpPr>
          <p:cNvPr id="6" name="p14-shape-342">
            <a:extLst xmlns:a="http://schemas.openxmlformats.org/drawingml/2006/main">
              <a:ext uri="{FF2B5EF4-FFF2-40B4-BE49-F238E27FC236}">
                <a16:creationId xmlns:a16="http://schemas.microsoft.com/office/drawing/2014/main" id="{59C2579D-2525-4B1E-9D9B-6DB00AB3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4-text-343">
            <a:extLst xmlns:a="http://schemas.openxmlformats.org/drawingml/2006/main">
              <a:ext uri="{FF2B5EF4-FFF2-40B4-BE49-F238E27FC236}">
                <a16:creationId xmlns:a16="http://schemas.microsoft.com/office/drawing/2014/main" id="{57C1270D-F9FB-4838-B7EC-CCBC10D4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Agent 可以协助整理与检查，业务含义仍需资料和领域人员确认</a:t>
            </a:r>
          </a:p>
        </p:txBody>
      </p:sp>
      <p:sp>
        <p:nvSpPr>
          <p:cNvPr id="8" name="p14-text-344">
            <a:extLst xmlns:a="http://schemas.openxmlformats.org/drawingml/2006/main">
              <a:ext uri="{FF2B5EF4-FFF2-40B4-BE49-F238E27FC236}">
                <a16:creationId xmlns:a16="http://schemas.microsoft.com/office/drawing/2014/main" id="{6B75CF75-D5CA-4B58-AE20-088BF01D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14 / 18</a:t>
            </a:r>
          </a:p>
        </p:txBody>
      </p:sp>
      <p:sp>
        <p:nvSpPr>
          <p:cNvPr id="9" name="p14-shape-345">
            <a:extLst xmlns:a="http://schemas.openxmlformats.org/drawingml/2006/main">
              <a:ext uri="{FF2B5EF4-FFF2-40B4-BE49-F238E27FC236}">
                <a16:creationId xmlns:a16="http://schemas.microsoft.com/office/drawing/2014/main" id="{7E10E33B-4A44-4869-9B80-354BD6E8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0" name="p14-text-346">
            <a:extLst xmlns:a="http://schemas.openxmlformats.org/drawingml/2006/main">
              <a:ext uri="{FF2B5EF4-FFF2-40B4-BE49-F238E27FC236}">
                <a16:creationId xmlns:a16="http://schemas.microsoft.com/office/drawing/2014/main" id="{2CA4964F-7856-4D31-9484-AE1B8CE4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rPr>
              <a:t>01</a:t>
            </a:r>
          </a:p>
        </p:txBody>
      </p:sp>
      <p:sp>
        <p:nvSpPr>
          <p:cNvPr id="11" name="p14-text-347">
            <a:extLst xmlns:a="http://schemas.openxmlformats.org/drawingml/2006/main">
              <a:ext uri="{FF2B5EF4-FFF2-40B4-BE49-F238E27FC236}">
                <a16:creationId xmlns:a16="http://schemas.microsoft.com/office/drawing/2014/main" id="{92342B34-D4BA-4C6F-BD2F-3275887F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确定范围</a:t>
            </a:r>
          </a:p>
        </p:txBody>
      </p:sp>
      <p:sp>
        <p:nvSpPr>
          <p:cNvPr id="12" name="p14-text-348">
            <a:extLst xmlns:a="http://schemas.openxmlformats.org/drawingml/2006/main">
              <a:ext uri="{FF2B5EF4-FFF2-40B4-BE49-F238E27FC236}">
                <a16:creationId xmlns:a16="http://schemas.microsoft.com/office/drawing/2014/main" id="{CBECDAE7-7174-47EB-AD78-3C99F2BE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要回答什么</a:t>
            </a:r>
          </a:p>
        </p:txBody>
      </p:sp>
      <p:sp>
        <p:nvSpPr>
          <p:cNvPr id="13" name="p14-text-349">
            <a:extLst xmlns:a="http://schemas.openxmlformats.org/drawingml/2006/main">
              <a:ext uri="{FF2B5EF4-FFF2-40B4-BE49-F238E27FC236}">
                <a16:creationId xmlns:a16="http://schemas.microsoft.com/office/drawing/2014/main" id="{1FAA1570-04CE-4A94-A320-6860C9DD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6742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这张差旅申请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由谁审批？</a:t>
            </a:r>
          </a:p>
        </p:txBody>
      </p:sp>
      <p:sp>
        <p:nvSpPr>
          <p:cNvPr id="14" name="p14-text-350">
            <a:extLst xmlns:a="http://schemas.openxmlformats.org/drawingml/2006/main">
              <a:ext uri="{FF2B5EF4-FFF2-40B4-BE49-F238E27FC236}">
                <a16:creationId xmlns:a16="http://schemas.microsoft.com/office/drawing/2014/main" id="{631A73B1-8CA3-41A4-A2CE-13335EC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925" b="0">
                <a:solidFill>
                  <a:srgbClr val="7392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73927E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5" name="p14-shape-351">
            <a:extLst xmlns:a="http://schemas.openxmlformats.org/drawingml/2006/main">
              <a:ext uri="{FF2B5EF4-FFF2-40B4-BE49-F238E27FC236}">
                <a16:creationId xmlns:a16="http://schemas.microsoft.com/office/drawing/2014/main" id="{CB546371-E76E-4C9C-AA98-627D71AC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86125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6" name="p14-text-352">
            <a:extLst xmlns:a="http://schemas.openxmlformats.org/drawingml/2006/main">
              <a:ext uri="{FF2B5EF4-FFF2-40B4-BE49-F238E27FC236}">
                <a16:creationId xmlns:a16="http://schemas.microsoft.com/office/drawing/2014/main" id="{6A51524F-0414-49F5-9957-E00B0E28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71875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rPr>
              <a:t>02</a:t>
            </a:r>
          </a:p>
        </p:txBody>
      </p:sp>
      <p:sp>
        <p:nvSpPr>
          <p:cNvPr id="17" name="p14-text-353">
            <a:extLst xmlns:a="http://schemas.openxmlformats.org/drawingml/2006/main">
              <a:ext uri="{FF2B5EF4-FFF2-40B4-BE49-F238E27FC236}">
                <a16:creationId xmlns:a16="http://schemas.microsoft.com/office/drawing/2014/main" id="{914B201D-79BE-44D9-ACAB-D04AD590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4342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澄清含义</a:t>
            </a:r>
          </a:p>
        </p:txBody>
      </p:sp>
      <p:sp>
        <p:nvSpPr>
          <p:cNvPr id="18" name="p14-text-354">
            <a:extLst xmlns:a="http://schemas.openxmlformats.org/drawingml/2006/main">
              <a:ext uri="{FF2B5EF4-FFF2-40B4-BE49-F238E27FC236}">
                <a16:creationId xmlns:a16="http://schemas.microsoft.com/office/drawing/2014/main" id="{780705EA-5637-4ACC-BEAB-4B0685CD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197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确认业务口径</a:t>
            </a:r>
          </a:p>
        </p:txBody>
      </p:sp>
      <p:sp>
        <p:nvSpPr>
          <p:cNvPr id="19" name="p14-text-355">
            <a:extLst xmlns:a="http://schemas.openxmlformats.org/drawingml/2006/main">
              <a:ext uri="{FF2B5EF4-FFF2-40B4-BE49-F238E27FC236}">
                <a16:creationId xmlns:a16="http://schemas.microsoft.com/office/drawing/2014/main" id="{000953FF-4F95-442F-A80B-0EE7D803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06742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部门负责人，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还是直属主管？</a:t>
            </a:r>
          </a:p>
        </p:txBody>
      </p:sp>
      <p:sp>
        <p:nvSpPr>
          <p:cNvPr id="20" name="p14-text-356">
            <a:extLst xmlns:a="http://schemas.openxmlformats.org/drawingml/2006/main">
              <a:ext uri="{FF2B5EF4-FFF2-40B4-BE49-F238E27FC236}">
                <a16:creationId xmlns:a16="http://schemas.microsoft.com/office/drawing/2014/main" id="{DE8644E7-F80D-424F-8266-72A0093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925" b="0">
                <a:solidFill>
                  <a:srgbClr val="7392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73927E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1" name="p14-shape-357">
            <a:extLst xmlns:a="http://schemas.openxmlformats.org/drawingml/2006/main">
              <a:ext uri="{FF2B5EF4-FFF2-40B4-BE49-F238E27FC236}">
                <a16:creationId xmlns:a16="http://schemas.microsoft.com/office/drawing/2014/main" id="{80241006-F6A0-4136-887C-3564AA7F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86125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2" name="p14-text-358">
            <a:extLst xmlns:a="http://schemas.openxmlformats.org/drawingml/2006/main">
              <a:ext uri="{FF2B5EF4-FFF2-40B4-BE49-F238E27FC236}">
                <a16:creationId xmlns:a16="http://schemas.microsoft.com/office/drawing/2014/main" id="{14197468-8374-48F2-BC4B-D4971E46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71875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rPr>
              <a:t>03</a:t>
            </a:r>
          </a:p>
        </p:txBody>
      </p:sp>
      <p:sp>
        <p:nvSpPr>
          <p:cNvPr id="23" name="p14-text-359">
            <a:extLst xmlns:a="http://schemas.openxmlformats.org/drawingml/2006/main">
              <a:ext uri="{FF2B5EF4-FFF2-40B4-BE49-F238E27FC236}">
                <a16:creationId xmlns:a16="http://schemas.microsoft.com/office/drawing/2014/main" id="{B5519366-C81E-4194-82AC-A7F01928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4342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建立模型</a:t>
            </a:r>
          </a:p>
        </p:txBody>
      </p:sp>
      <p:sp>
        <p:nvSpPr>
          <p:cNvPr id="24" name="p14-text-360">
            <a:extLst xmlns:a="http://schemas.openxmlformats.org/drawingml/2006/main">
              <a:ext uri="{FF2B5EF4-FFF2-40B4-BE49-F238E27FC236}">
                <a16:creationId xmlns:a16="http://schemas.microsoft.com/office/drawing/2014/main" id="{E57C2306-EDDE-486B-A9B7-823C023E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明确概念与关联</a:t>
            </a:r>
          </a:p>
        </p:txBody>
      </p:sp>
      <p:sp>
        <p:nvSpPr>
          <p:cNvPr id="25" name="p14-text-361">
            <a:extLst xmlns:a="http://schemas.openxmlformats.org/drawingml/2006/main">
              <a:ext uri="{FF2B5EF4-FFF2-40B4-BE49-F238E27FC236}">
                <a16:creationId xmlns:a16="http://schemas.microsoft.com/office/drawing/2014/main" id="{AB13FF3C-E66D-4B01-BE95-FE7271FA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06742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员工、部门、申请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及审批政策</a:t>
            </a:r>
          </a:p>
        </p:txBody>
      </p:sp>
      <p:sp>
        <p:nvSpPr>
          <p:cNvPr id="26" name="p14-text-362">
            <a:extLst xmlns:a="http://schemas.openxmlformats.org/drawingml/2006/main">
              <a:ext uri="{FF2B5EF4-FFF2-40B4-BE49-F238E27FC236}">
                <a16:creationId xmlns:a16="http://schemas.microsoft.com/office/drawing/2014/main" id="{D726C450-BF40-47DE-8D06-FB8CDEB1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9625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925" b="0">
                <a:solidFill>
                  <a:srgbClr val="7392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73927E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27" name="p14-shape-363">
            <a:extLst xmlns:a="http://schemas.openxmlformats.org/drawingml/2006/main">
              <a:ext uri="{FF2B5EF4-FFF2-40B4-BE49-F238E27FC236}">
                <a16:creationId xmlns:a16="http://schemas.microsoft.com/office/drawing/2014/main" id="{46BD47FA-6BC4-4E2B-A262-9046DC12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86125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8" name="p14-text-364">
            <a:extLst xmlns:a="http://schemas.openxmlformats.org/drawingml/2006/main">
              <a:ext uri="{FF2B5EF4-FFF2-40B4-BE49-F238E27FC236}">
                <a16:creationId xmlns:a16="http://schemas.microsoft.com/office/drawing/2014/main" id="{3D31FD48-9832-4027-B692-6F9858E5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71875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rPr>
              <a:t>04</a:t>
            </a:r>
          </a:p>
        </p:txBody>
      </p:sp>
      <p:sp>
        <p:nvSpPr>
          <p:cNvPr id="29" name="p14-text-365">
            <a:extLst xmlns:a="http://schemas.openxmlformats.org/drawingml/2006/main">
              <a:ext uri="{FF2B5EF4-FFF2-40B4-BE49-F238E27FC236}">
                <a16:creationId xmlns:a16="http://schemas.microsoft.com/office/drawing/2014/main" id="{D84B5ECF-8578-4746-BF9F-2C7B526B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4342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连接来源</a:t>
            </a:r>
          </a:p>
        </p:txBody>
      </p:sp>
      <p:sp>
        <p:nvSpPr>
          <p:cNvPr id="30" name="p14-text-366">
            <a:extLst xmlns:a="http://schemas.openxmlformats.org/drawingml/2006/main">
              <a:ext uri="{FF2B5EF4-FFF2-40B4-BE49-F238E27FC236}">
                <a16:creationId xmlns:a16="http://schemas.microsoft.com/office/drawing/2014/main" id="{F8AAD74F-B24B-4009-A88A-D1346752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2197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找到所需事实</a:t>
            </a:r>
          </a:p>
        </p:txBody>
      </p:sp>
      <p:sp>
        <p:nvSpPr>
          <p:cNvPr id="31" name="p14-text-367">
            <a:extLst xmlns:a="http://schemas.openxmlformats.org/drawingml/2006/main">
              <a:ext uri="{FF2B5EF4-FFF2-40B4-BE49-F238E27FC236}">
                <a16:creationId xmlns:a16="http://schemas.microsoft.com/office/drawing/2014/main" id="{9A5CF59F-63E0-4C6D-8892-AE62C16B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06742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差旅系统查申请人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人事系统查组织关系</a:t>
            </a:r>
          </a:p>
        </p:txBody>
      </p:sp>
      <p:sp>
        <p:nvSpPr>
          <p:cNvPr id="32" name="p14-text-368">
            <a:extLst xmlns:a="http://schemas.openxmlformats.org/drawingml/2006/main">
              <a:ext uri="{FF2B5EF4-FFF2-40B4-BE49-F238E27FC236}">
                <a16:creationId xmlns:a16="http://schemas.microsoft.com/office/drawing/2014/main" id="{FBB98BB9-B4F8-4A36-BD96-4C50DC0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619625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925" b="0">
                <a:solidFill>
                  <a:srgbClr val="7392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73927E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33" name="p14-shape-369">
            <a:extLst xmlns:a="http://schemas.openxmlformats.org/drawingml/2006/main">
              <a:ext uri="{FF2B5EF4-FFF2-40B4-BE49-F238E27FC236}">
                <a16:creationId xmlns:a16="http://schemas.microsoft.com/office/drawing/2014/main" id="{BF035411-E542-4A3F-96C3-B9452F40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286125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34" name="p14-text-370">
            <a:extLst xmlns:a="http://schemas.openxmlformats.org/drawingml/2006/main">
              <a:ext uri="{FF2B5EF4-FFF2-40B4-BE49-F238E27FC236}">
                <a16:creationId xmlns:a16="http://schemas.microsoft.com/office/drawing/2014/main" id="{EA75C3AF-A34C-478B-8CA7-BFE5191A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571875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00" b="0">
                <a:solidFill>
                  <a:srgbClr val="73927E"/>
                </a:solidFill>
                <a:latin typeface="Noto Serif CJK SC"/>
                <a:ea typeface="Noto Serif CJK SC"/>
                <a:cs typeface="Noto Serif CJK SC"/>
              </a:rPr>
              <a:t>05</a:t>
            </a:r>
          </a:p>
        </p:txBody>
      </p:sp>
      <p:sp>
        <p:nvSpPr>
          <p:cNvPr id="35" name="p14-text-371">
            <a:extLst xmlns:a="http://schemas.openxmlformats.org/drawingml/2006/main">
              <a:ext uri="{FF2B5EF4-FFF2-40B4-BE49-F238E27FC236}">
                <a16:creationId xmlns:a16="http://schemas.microsoft.com/office/drawing/2014/main" id="{0A9D11AC-F52D-4776-A860-8D84308F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54342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问题验证</a:t>
            </a:r>
          </a:p>
        </p:txBody>
      </p:sp>
      <p:sp>
        <p:nvSpPr>
          <p:cNvPr id="36" name="p14-text-372">
            <a:extLst xmlns:a="http://schemas.openxmlformats.org/drawingml/2006/main">
              <a:ext uri="{FF2B5EF4-FFF2-40B4-BE49-F238E27FC236}">
                <a16:creationId xmlns:a16="http://schemas.microsoft.com/office/drawing/2014/main" id="{A3800764-0639-4C89-8932-D452BE3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2197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核对回答与依据</a:t>
            </a:r>
          </a:p>
        </p:txBody>
      </p:sp>
      <p:sp>
        <p:nvSpPr>
          <p:cNvPr id="37" name="p14-text-373">
            <a:extLst xmlns:a="http://schemas.openxmlformats.org/drawingml/2006/main">
              <a:ext uri="{FF2B5EF4-FFF2-40B4-BE49-F238E27FC236}">
                <a16:creationId xmlns:a16="http://schemas.microsoft.com/office/drawing/2014/main" id="{662BB712-22EB-44F0-82C8-89A7E53D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06742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正常情况能解释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事实缺失能指出未知</a:t>
            </a:r>
          </a:p>
        </p:txBody>
      </p:sp>
      <p:sp>
        <p:nvSpPr>
          <p:cNvPr id="38" name="p14-shape-374">
            <a:extLst xmlns:a="http://schemas.openxmlformats.org/drawingml/2006/main">
              <a:ext uri="{FF2B5EF4-FFF2-40B4-BE49-F238E27FC236}">
                <a16:creationId xmlns:a16="http://schemas.microsoft.com/office/drawing/2014/main" id="{EF9B9248-769F-4F15-A548-2159764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00950"/>
            <a:ext cx="161544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14-text-375">
            <a:extLst xmlns:a="http://schemas.openxmlformats.org/drawingml/2006/main">
              <a:ext uri="{FF2B5EF4-FFF2-40B4-BE49-F238E27FC236}">
                <a16:creationId xmlns:a16="http://schemas.microsoft.com/office/drawing/2014/main" id="{D191C86C-9F9D-4757-AD88-98335B15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839075"/>
            <a:ext cx="15516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用业务问题检查：定义是否清楚，关系是否完整，未知是否保留</a:t>
            </a:r>
          </a:p>
        </p:txBody>
      </p:sp>
    </p:spTree>
    <p:extLst>
      <p:ext uri="{BB962C8B-B14F-4D97-AF65-F5344CB8AC3E}">
        <p14:creationId xmlns:p14="http://schemas.microsoft.com/office/powerpoint/2010/main" val="18023574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15-shape-376">
            <a:extLst xmlns:a="http://schemas.openxmlformats.org/drawingml/2006/main">
              <a:ext uri="{FF2B5EF4-FFF2-40B4-BE49-F238E27FC236}">
                <a16:creationId xmlns:a16="http://schemas.microsoft.com/office/drawing/2014/main" id="{390A34B1-59B4-4237-86AA-F04118D7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5-text-377">
            <a:extLst xmlns:a="http://schemas.openxmlformats.org/drawingml/2006/main">
              <a:ext uri="{FF2B5EF4-FFF2-40B4-BE49-F238E27FC236}">
                <a16:creationId xmlns:a16="http://schemas.microsoft.com/office/drawing/2014/main" id="{B3E84EB0-D6A4-433F-A417-58C84164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5-text-378">
            <a:extLst xmlns:a="http://schemas.openxmlformats.org/drawingml/2006/main">
              <a:ext uri="{FF2B5EF4-FFF2-40B4-BE49-F238E27FC236}">
                <a16:creationId xmlns:a16="http://schemas.microsoft.com/office/drawing/2014/main" id="{16034EAE-EBEF-4A1C-BF6C-A697CBC1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03 / 建设与平台</a:t>
            </a:r>
          </a:p>
        </p:txBody>
      </p:sp>
      <p:sp>
        <p:nvSpPr>
          <p:cNvPr id="4" name="p15-title">
            <a:extLst xmlns:a="http://schemas.openxmlformats.org/drawingml/2006/main">
              <a:ext uri="{FF2B5EF4-FFF2-40B4-BE49-F238E27FC236}">
                <a16:creationId xmlns:a16="http://schemas.microsoft.com/office/drawing/2014/main" id="{78E08047-FD30-4943-B687-5342C52B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什么时候值得建立本体</a:t>
            </a:r>
          </a:p>
        </p:txBody>
      </p:sp>
      <p:sp>
        <p:nvSpPr>
          <p:cNvPr id="5" name="p15-text-379">
            <a:extLst xmlns:a="http://schemas.openxmlformats.org/drawingml/2006/main">
              <a:ext uri="{FF2B5EF4-FFF2-40B4-BE49-F238E27FC236}">
                <a16:creationId xmlns:a16="http://schemas.microsoft.com/office/drawing/2014/main" id="{CBE4C71C-383B-4881-BEEF-ACB69170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把共享和复用的需要，与建设和维护的投入放在一起考虑</a:t>
            </a:r>
          </a:p>
        </p:txBody>
      </p:sp>
      <p:sp>
        <p:nvSpPr>
          <p:cNvPr id="6" name="p15-shape-380">
            <a:extLst xmlns:a="http://schemas.openxmlformats.org/drawingml/2006/main">
              <a:ext uri="{FF2B5EF4-FFF2-40B4-BE49-F238E27FC236}">
                <a16:creationId xmlns:a16="http://schemas.microsoft.com/office/drawing/2014/main" id="{21B37E25-EA07-449B-92AC-D1AE9D2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5-text-381">
            <a:extLst xmlns:a="http://schemas.openxmlformats.org/drawingml/2006/main">
              <a:ext uri="{FF2B5EF4-FFF2-40B4-BE49-F238E27FC236}">
                <a16:creationId xmlns:a16="http://schemas.microsoft.com/office/drawing/2014/main" id="{F0588E7C-3F38-4A6C-A3D9-930AE12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从一组真实、反复出现的业务问题开始</a:t>
            </a:r>
          </a:p>
        </p:txBody>
      </p:sp>
      <p:sp>
        <p:nvSpPr>
          <p:cNvPr id="8" name="p15-text-382">
            <a:extLst xmlns:a="http://schemas.openxmlformats.org/drawingml/2006/main">
              <a:ext uri="{FF2B5EF4-FFF2-40B4-BE49-F238E27FC236}">
                <a16:creationId xmlns:a16="http://schemas.microsoft.com/office/drawing/2014/main" id="{77D8970C-1744-485D-8EB2-3CCD8253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15 / 18</a:t>
            </a:r>
          </a:p>
        </p:txBody>
      </p:sp>
      <p:sp>
        <p:nvSpPr>
          <p:cNvPr id="9" name="p15-text-383">
            <a:extLst xmlns:a="http://schemas.openxmlformats.org/drawingml/2006/main">
              <a:ext uri="{FF2B5EF4-FFF2-40B4-BE49-F238E27FC236}">
                <a16:creationId xmlns:a16="http://schemas.microsoft.com/office/drawing/2014/main" id="{DA890545-AD2B-4B48-98D7-83E6A817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更值得考虑的情况</a:t>
            </a:r>
          </a:p>
        </p:txBody>
      </p:sp>
      <p:sp>
        <p:nvSpPr>
          <p:cNvPr id="10" name="p15-shape-384">
            <a:extLst xmlns:a="http://schemas.openxmlformats.org/drawingml/2006/main">
              <a:ext uri="{FF2B5EF4-FFF2-40B4-BE49-F238E27FC236}">
                <a16:creationId xmlns:a16="http://schemas.microsoft.com/office/drawing/2014/main" id="{38FC71C2-6386-4E68-BE16-D56D147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1" name="p15-text-385">
            <a:extLst xmlns:a="http://schemas.openxmlformats.org/drawingml/2006/main">
              <a:ext uri="{FF2B5EF4-FFF2-40B4-BE49-F238E27FC236}">
                <a16:creationId xmlns:a16="http://schemas.microsoft.com/office/drawing/2014/main" id="{4908DA0D-68DD-4879-AA4B-5D455CBA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多个任务</a:t>
            </a:r>
          </a:p>
        </p:txBody>
      </p:sp>
      <p:sp>
        <p:nvSpPr>
          <p:cNvPr id="12" name="p15-text-386">
            <a:extLst xmlns:a="http://schemas.openxmlformats.org/drawingml/2006/main">
              <a:ext uri="{FF2B5EF4-FFF2-40B4-BE49-F238E27FC236}">
                <a16:creationId xmlns:a16="http://schemas.microsoft.com/office/drawing/2014/main" id="{0FB19EA8-0863-41CB-A1CA-DA1A081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62450"/>
            <a:ext cx="6448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反复使用同一套概念与定义</a:t>
            </a:r>
          </a:p>
        </p:txBody>
      </p:sp>
      <p:sp>
        <p:nvSpPr>
          <p:cNvPr id="13" name="p15-shape-387">
            <a:extLst xmlns:a="http://schemas.openxmlformats.org/drawingml/2006/main">
              <a:ext uri="{FF2B5EF4-FFF2-40B4-BE49-F238E27FC236}">
                <a16:creationId xmlns:a16="http://schemas.microsoft.com/office/drawing/2014/main" id="{A60E1011-3F03-4E64-A353-C9190D42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14" name="p15-text-388">
            <a:extLst xmlns:a="http://schemas.openxmlformats.org/drawingml/2006/main">
              <a:ext uri="{FF2B5EF4-FFF2-40B4-BE49-F238E27FC236}">
                <a16:creationId xmlns:a16="http://schemas.microsoft.com/office/drawing/2014/main" id="{DD90B5B6-5524-4907-A9C4-3636007A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跨对象、跨系统</a:t>
            </a:r>
          </a:p>
        </p:txBody>
      </p:sp>
      <p:sp>
        <p:nvSpPr>
          <p:cNvPr id="15" name="p15-text-389">
            <a:extLst xmlns:a="http://schemas.openxmlformats.org/drawingml/2006/main">
              <a:ext uri="{FF2B5EF4-FFF2-40B4-BE49-F238E27FC236}">
                <a16:creationId xmlns:a16="http://schemas.microsoft.com/office/drawing/2014/main" id="{4F5DF130-E555-4746-9380-2C75EDBF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24525"/>
            <a:ext cx="6448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答案依赖明确的业务关系</a:t>
            </a:r>
          </a:p>
        </p:txBody>
      </p:sp>
      <p:sp>
        <p:nvSpPr>
          <p:cNvPr id="16" name="p15-shape-390">
            <a:extLst xmlns:a="http://schemas.openxmlformats.org/drawingml/2006/main">
              <a:ext uri="{FF2B5EF4-FFF2-40B4-BE49-F238E27FC236}">
                <a16:creationId xmlns:a16="http://schemas.microsoft.com/office/drawing/2014/main" id="{9D3B5C4A-F678-4DD0-BFC9-7396634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008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17" name="p15-text-391">
            <a:extLst xmlns:a="http://schemas.openxmlformats.org/drawingml/2006/main">
              <a:ext uri="{FF2B5EF4-FFF2-40B4-BE49-F238E27FC236}">
                <a16:creationId xmlns:a16="http://schemas.microsoft.com/office/drawing/2014/main" id="{E30938F3-B707-4DE6-ADA9-936531D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580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长期维护</a:t>
            </a:r>
          </a:p>
        </p:txBody>
      </p:sp>
      <p:sp>
        <p:nvSpPr>
          <p:cNvPr id="18" name="p15-text-392">
            <a:extLst xmlns:a="http://schemas.openxmlformats.org/drawingml/2006/main">
              <a:ext uri="{FF2B5EF4-FFF2-40B4-BE49-F238E27FC236}">
                <a16:creationId xmlns:a16="http://schemas.microsoft.com/office/drawing/2014/main" id="{D24D5156-A6CF-4CF5-9572-857A37F3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086600"/>
            <a:ext cx="6448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业务含义需要持续更新和复用</a:t>
            </a:r>
          </a:p>
        </p:txBody>
      </p:sp>
      <p:sp>
        <p:nvSpPr>
          <p:cNvPr id="19" name="p15-shape-393">
            <a:extLst xmlns:a="http://schemas.openxmlformats.org/drawingml/2006/main">
              <a:ext uri="{FF2B5EF4-FFF2-40B4-BE49-F238E27FC236}">
                <a16:creationId xmlns:a16="http://schemas.microsoft.com/office/drawing/2014/main" id="{CDC8B95F-5B7D-48AA-8959-6996975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7660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6C36"/>
            </a:solidFill>
            <a:prstDash val="solid"/>
          </a:ln>
        </p:spPr>
      </p:sp>
      <p:sp>
        <p:nvSpPr>
          <p:cNvPr id="20" name="p15-text-394">
            <a:extLst xmlns:a="http://schemas.openxmlformats.org/drawingml/2006/main">
              <a:ext uri="{FF2B5EF4-FFF2-40B4-BE49-F238E27FC236}">
                <a16:creationId xmlns:a16="http://schemas.microsoft.com/office/drawing/2014/main" id="{3ED49AB5-EB2F-4910-A1ED-A9211467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571875"/>
            <a:ext cx="541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75" b="1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相应投入</a:t>
            </a:r>
          </a:p>
        </p:txBody>
      </p:sp>
      <p:sp>
        <p:nvSpPr>
          <p:cNvPr id="21" name="p15-text-395">
            <a:extLst xmlns:a="http://schemas.openxmlformats.org/drawingml/2006/main">
              <a:ext uri="{FF2B5EF4-FFF2-40B4-BE49-F238E27FC236}">
                <a16:creationId xmlns:a16="http://schemas.microsoft.com/office/drawing/2014/main" id="{164F749E-DBA5-453A-AAB2-31491F95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505325"/>
            <a:ext cx="5410200" cy="1500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澄清业务含义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6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连接事实来源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6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验证与持续维护</a:t>
            </a:r>
          </a:p>
        </p:txBody>
      </p:sp>
      <p:sp>
        <p:nvSpPr>
          <p:cNvPr id="22" name="p15-text-396">
            <a:extLst xmlns:a="http://schemas.openxmlformats.org/drawingml/2006/main">
              <a:ext uri="{FF2B5EF4-FFF2-40B4-BE49-F238E27FC236}">
                <a16:creationId xmlns:a16="http://schemas.microsoft.com/office/drawing/2014/main" id="{7763B363-E02A-48EF-B191-02821E13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77075"/>
            <a:ext cx="541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问题少、变化少时，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可以先采用轻量的组织方式。</a:t>
            </a:r>
          </a:p>
        </p:txBody>
      </p:sp>
    </p:spTree>
    <p:extLst>
      <p:ext uri="{BB962C8B-B14F-4D97-AF65-F5344CB8AC3E}">
        <p14:creationId xmlns:p14="http://schemas.microsoft.com/office/powerpoint/2010/main" val="20863045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16-shape-397">
            <a:extLst xmlns:a="http://schemas.openxmlformats.org/drawingml/2006/main">
              <a:ext uri="{FF2B5EF4-FFF2-40B4-BE49-F238E27FC236}">
                <a16:creationId xmlns:a16="http://schemas.microsoft.com/office/drawing/2014/main" id="{60598898-8636-4A1E-8D7B-5CA2C3A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6-text-398">
            <a:extLst xmlns:a="http://schemas.openxmlformats.org/drawingml/2006/main">
              <a:ext uri="{FF2B5EF4-FFF2-40B4-BE49-F238E27FC236}">
                <a16:creationId xmlns:a16="http://schemas.microsoft.com/office/drawing/2014/main" id="{AE2FCA4B-41EA-4745-AA4C-A69866A7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6-text-399">
            <a:extLst xmlns:a="http://schemas.openxmlformats.org/drawingml/2006/main">
              <a:ext uri="{FF2B5EF4-FFF2-40B4-BE49-F238E27FC236}">
                <a16:creationId xmlns:a16="http://schemas.microsoft.com/office/drawing/2014/main" id="{3596F87E-BF80-4E5C-A221-8678D02F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03 / 建设与平台</a:t>
            </a:r>
          </a:p>
        </p:txBody>
      </p:sp>
      <p:sp>
        <p:nvSpPr>
          <p:cNvPr id="4" name="p16-title">
            <a:extLst xmlns:a="http://schemas.openxmlformats.org/drawingml/2006/main">
              <a:ext uri="{FF2B5EF4-FFF2-40B4-BE49-F238E27FC236}">
                <a16:creationId xmlns:a16="http://schemas.microsoft.com/office/drawing/2014/main" id="{D102339D-B8CB-47D0-8789-9ED07BC9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OntoWeave：面向 Agent 的业务语义平台</a:t>
            </a:r>
          </a:p>
        </p:txBody>
      </p:sp>
      <p:sp>
        <p:nvSpPr>
          <p:cNvPr id="5" name="p16-text-400">
            <a:extLst xmlns:a="http://schemas.openxmlformats.org/drawingml/2006/main">
              <a:ext uri="{FF2B5EF4-FFF2-40B4-BE49-F238E27FC236}">
                <a16:creationId xmlns:a16="http://schemas.microsoft.com/office/drawing/2014/main" id="{1210F832-0A9F-44D7-A231-8AB79CB1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连接构建领域语义的人与 Agent，以及使用语义的业务 Agent</a:t>
            </a:r>
          </a:p>
        </p:txBody>
      </p:sp>
      <p:sp>
        <p:nvSpPr>
          <p:cNvPr id="6" name="p16-shape-401">
            <a:extLst xmlns:a="http://schemas.openxmlformats.org/drawingml/2006/main">
              <a:ext uri="{FF2B5EF4-FFF2-40B4-BE49-F238E27FC236}">
                <a16:creationId xmlns:a16="http://schemas.microsoft.com/office/drawing/2014/main" id="{24AAE9EB-0E40-402E-9BAE-BE9A4F9E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6-text-402">
            <a:extLst xmlns:a="http://schemas.openxmlformats.org/drawingml/2006/main">
              <a:ext uri="{FF2B5EF4-FFF2-40B4-BE49-F238E27FC236}">
                <a16:creationId xmlns:a16="http://schemas.microsoft.com/office/drawing/2014/main" id="{6891622D-80F7-42CA-919E-DE5AC2B4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平台承接语义模型的保存、维护、校验与读取</a:t>
            </a:r>
          </a:p>
        </p:txBody>
      </p:sp>
      <p:sp>
        <p:nvSpPr>
          <p:cNvPr id="8" name="p16-text-403">
            <a:extLst xmlns:a="http://schemas.openxmlformats.org/drawingml/2006/main">
              <a:ext uri="{FF2B5EF4-FFF2-40B4-BE49-F238E27FC236}">
                <a16:creationId xmlns:a16="http://schemas.microsoft.com/office/drawing/2014/main" id="{95DC12D3-307B-40A9-AE2F-71570E47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平台定位示意；业务数据查询与动作执行由外部能力承担。</a:t>
            </a:r>
          </a:p>
        </p:txBody>
      </p:sp>
      <p:sp>
        <p:nvSpPr>
          <p:cNvPr id="9" name="p16-text-404">
            <a:extLst xmlns:a="http://schemas.openxmlformats.org/drawingml/2006/main">
              <a:ext uri="{FF2B5EF4-FFF2-40B4-BE49-F238E27FC236}">
                <a16:creationId xmlns:a16="http://schemas.microsoft.com/office/drawing/2014/main" id="{92358A33-A63F-442E-8BBE-0F1B360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16 / 18</a:t>
            </a:r>
          </a:p>
        </p:txBody>
      </p:sp>
      <p:sp>
        <p:nvSpPr>
          <p:cNvPr id="10" name="p16-shape-405">
            <a:extLst xmlns:a="http://schemas.openxmlformats.org/drawingml/2006/main">
              <a:ext uri="{FF2B5EF4-FFF2-40B4-BE49-F238E27FC236}">
                <a16:creationId xmlns:a16="http://schemas.microsoft.com/office/drawing/2014/main" id="{5D30E4F4-0103-4F53-A583-2021729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81575"/>
            <a:ext cx="37623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1" name="p16-text-406">
            <a:extLst xmlns:a="http://schemas.openxmlformats.org/drawingml/2006/main">
              <a:ext uri="{FF2B5EF4-FFF2-40B4-BE49-F238E27FC236}">
                <a16:creationId xmlns:a16="http://schemas.microsoft.com/office/drawing/2014/main" id="{9A339B19-398E-4904-A4E4-E625B6D6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91125"/>
            <a:ext cx="3533775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业务人员与建模 Agent</a:t>
            </a:r>
          </a:p>
        </p:txBody>
      </p:sp>
      <p:sp>
        <p:nvSpPr>
          <p:cNvPr id="12" name="p16-text-407">
            <a:extLst xmlns:a="http://schemas.openxmlformats.org/drawingml/2006/main">
              <a:ext uri="{FF2B5EF4-FFF2-40B4-BE49-F238E27FC236}">
                <a16:creationId xmlns:a16="http://schemas.microsoft.com/office/drawing/2014/main" id="{D854D43E-7727-4D85-AF44-2DFBE4FC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08333"/>
            <a:ext cx="3571875" cy="740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理解资料，确认业务含义</a:t>
            </a:r>
          </a:p>
        </p:txBody>
      </p:sp>
      <p:sp>
        <p:nvSpPr>
          <p:cNvPr id="13" name="p16-shape-408">
            <a:extLst xmlns:a="http://schemas.openxmlformats.org/drawingml/2006/main">
              <a:ext uri="{FF2B5EF4-FFF2-40B4-BE49-F238E27FC236}">
                <a16:creationId xmlns:a16="http://schemas.microsoft.com/office/drawing/2014/main" id="{FB889DF9-948E-49AC-A6C2-7C63509A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05225"/>
            <a:ext cx="5191125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6-text-409">
            <a:extLst xmlns:a="http://schemas.openxmlformats.org/drawingml/2006/main">
              <a:ext uri="{FF2B5EF4-FFF2-40B4-BE49-F238E27FC236}">
                <a16:creationId xmlns:a16="http://schemas.microsoft.com/office/drawing/2014/main" id="{87EFFB75-AF84-4D17-B15F-B131CFE7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48125"/>
            <a:ext cx="452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3975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975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rPr>
              <a:t>OntoWeave</a:t>
            </a:r>
          </a:p>
        </p:txBody>
      </p:sp>
      <p:sp>
        <p:nvSpPr>
          <p:cNvPr id="15" name="p16-shape-410">
            <a:extLst xmlns:a="http://schemas.openxmlformats.org/drawingml/2006/main">
              <a:ext uri="{FF2B5EF4-FFF2-40B4-BE49-F238E27FC236}">
                <a16:creationId xmlns:a16="http://schemas.microsoft.com/office/drawing/2014/main" id="{208157B2-2E3E-41BA-989F-88CC5D71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010150"/>
            <a:ext cx="4391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6" name="p16-text-411">
            <a:extLst xmlns:a="http://schemas.openxmlformats.org/drawingml/2006/main">
              <a:ext uri="{FF2B5EF4-FFF2-40B4-BE49-F238E27FC236}">
                <a16:creationId xmlns:a16="http://schemas.microsoft.com/office/drawing/2014/main" id="{2F584C67-AB78-4C7A-9571-B391220B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91150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保存概念与关系</a:t>
            </a:r>
          </a:p>
        </p:txBody>
      </p:sp>
      <p:sp>
        <p:nvSpPr>
          <p:cNvPr id="17" name="p16-text-412">
            <a:extLst xmlns:a="http://schemas.openxmlformats.org/drawingml/2006/main">
              <a:ext uri="{FF2B5EF4-FFF2-40B4-BE49-F238E27FC236}">
                <a16:creationId xmlns:a16="http://schemas.microsoft.com/office/drawing/2014/main" id="{71D94F60-EE12-4AE9-AB78-C8CCBFB2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34100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支持模型维护与检查</a:t>
            </a:r>
          </a:p>
        </p:txBody>
      </p:sp>
      <p:sp>
        <p:nvSpPr>
          <p:cNvPr id="18" name="p16-text-413">
            <a:extLst xmlns:a="http://schemas.openxmlformats.org/drawingml/2006/main">
              <a:ext uri="{FF2B5EF4-FFF2-40B4-BE49-F238E27FC236}">
                <a16:creationId xmlns:a16="http://schemas.microsoft.com/office/drawing/2014/main" id="{2514C5C0-3104-4649-9F9A-68265DA5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877050"/>
            <a:ext cx="452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按权限提供相关语义</a:t>
            </a:r>
          </a:p>
        </p:txBody>
      </p:sp>
      <p:sp>
        <p:nvSpPr>
          <p:cNvPr id="19" name="p16-shape-414">
            <a:extLst xmlns:a="http://schemas.openxmlformats.org/drawingml/2006/main">
              <a:ext uri="{FF2B5EF4-FFF2-40B4-BE49-F238E27FC236}">
                <a16:creationId xmlns:a16="http://schemas.microsoft.com/office/drawing/2014/main" id="{1AD3A652-B8EA-43CF-8108-006294AD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4105275"/>
            <a:ext cx="32480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20" name="p16-text-415">
            <a:extLst xmlns:a="http://schemas.openxmlformats.org/drawingml/2006/main">
              <a:ext uri="{FF2B5EF4-FFF2-40B4-BE49-F238E27FC236}">
                <a16:creationId xmlns:a16="http://schemas.microsoft.com/office/drawing/2014/main" id="{5FC8DFEE-098E-4AD5-946A-C19F4FE6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4314825"/>
            <a:ext cx="30194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业务 Agent</a:t>
            </a:r>
          </a:p>
        </p:txBody>
      </p:sp>
      <p:sp>
        <p:nvSpPr>
          <p:cNvPr id="21" name="p16-text-416">
            <a:extLst xmlns:a="http://schemas.openxmlformats.org/drawingml/2006/main">
              <a:ext uri="{FF2B5EF4-FFF2-40B4-BE49-F238E27FC236}">
                <a16:creationId xmlns:a16="http://schemas.microsoft.com/office/drawing/2014/main" id="{741530A9-5FC6-476A-8E0B-BE7E1DF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4869180"/>
            <a:ext cx="305752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结合语义处理任务</a:t>
            </a:r>
          </a:p>
        </p:txBody>
      </p:sp>
      <p:sp>
        <p:nvSpPr>
          <p:cNvPr id="22" name="p16-shape-417">
            <a:extLst xmlns:a="http://schemas.openxmlformats.org/drawingml/2006/main">
              <a:ext uri="{FF2B5EF4-FFF2-40B4-BE49-F238E27FC236}">
                <a16:creationId xmlns:a16="http://schemas.microsoft.com/office/drawing/2014/main" id="{E78DB0D7-3E4D-41A2-A5BE-84F5B80C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6867525"/>
            <a:ext cx="32480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23" name="p16-text-418">
            <a:extLst xmlns:a="http://schemas.openxmlformats.org/drawingml/2006/main">
              <a:ext uri="{FF2B5EF4-FFF2-40B4-BE49-F238E27FC236}">
                <a16:creationId xmlns:a16="http://schemas.microsoft.com/office/drawing/2014/main" id="{BBB27A9C-C705-4BBB-A804-175A1E4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7077075"/>
            <a:ext cx="3019425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外部业务系统</a:t>
            </a:r>
          </a:p>
        </p:txBody>
      </p:sp>
      <p:sp>
        <p:nvSpPr>
          <p:cNvPr id="24" name="p16-text-419">
            <a:extLst xmlns:a="http://schemas.openxmlformats.org/drawingml/2006/main">
              <a:ext uri="{FF2B5EF4-FFF2-40B4-BE49-F238E27FC236}">
                <a16:creationId xmlns:a16="http://schemas.microsoft.com/office/drawing/2014/main" id="{73EA1A4E-7BC1-4A4C-9A54-E8A9D8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7606665"/>
            <a:ext cx="3057525" cy="556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提供数据与执行能力</a:t>
            </a:r>
          </a:p>
        </p:txBody>
      </p:sp>
      <p:cxnSp>
        <p:nvCxnSpPr>
          <p:cNvPr id="5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29175" y="5753100"/>
            <a:ext cx="19812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6" name="p16-text-420">
            <a:extLst xmlns:a="http://schemas.openxmlformats.org/drawingml/2006/main">
              <a:ext uri="{FF2B5EF4-FFF2-40B4-BE49-F238E27FC236}">
                <a16:creationId xmlns:a16="http://schemas.microsoft.com/office/drawing/2014/main" id="{94EE1597-205B-4790-ADF1-54F41FC7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24827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构建与维护</a:t>
            </a:r>
          </a:p>
        </p:txBody>
      </p:sp>
      <p:cxnSp>
        <p:nvCxnSpPr>
          <p:cNvPr id="57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12001500" y="4791075"/>
            <a:ext cx="1971675" cy="966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8" name="p16-text-421">
            <a:extLst xmlns:a="http://schemas.openxmlformats.org/drawingml/2006/main">
              <a:ext uri="{FF2B5EF4-FFF2-40B4-BE49-F238E27FC236}">
                <a16:creationId xmlns:a16="http://schemas.microsoft.com/office/drawing/2014/main" id="{52998AE9-DFC1-42FA-A63B-8CB375B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4362450"/>
            <a:ext cx="16859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语义读取</a:t>
            </a:r>
          </a:p>
        </p:txBody>
      </p:sp>
      <p:cxnSp>
        <p:nvCxnSpPr>
          <p:cNvPr id="59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5597188" y="5476875"/>
            <a:ext cx="0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30" name="p16-text-422">
            <a:extLst xmlns:a="http://schemas.openxmlformats.org/drawingml/2006/main">
              <a:ext uri="{FF2B5EF4-FFF2-40B4-BE49-F238E27FC236}">
                <a16:creationId xmlns:a16="http://schemas.microsoft.com/office/drawing/2014/main" id="{ADDFD316-C06D-4EF2-866A-F1366223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599122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查询与执行</a:t>
            </a:r>
          </a:p>
        </p:txBody>
      </p:sp>
    </p:spTree>
    <p:extLst>
      <p:ext uri="{BB962C8B-B14F-4D97-AF65-F5344CB8AC3E}">
        <p14:creationId xmlns:p14="http://schemas.microsoft.com/office/powerpoint/2010/main" val="13929888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17-shape-423">
            <a:extLst xmlns:a="http://schemas.openxmlformats.org/drawingml/2006/main">
              <a:ext uri="{FF2B5EF4-FFF2-40B4-BE49-F238E27FC236}">
                <a16:creationId xmlns:a16="http://schemas.microsoft.com/office/drawing/2014/main" id="{26A310B6-D672-4974-A5A0-F5405DCE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7-text-424">
            <a:extLst xmlns:a="http://schemas.openxmlformats.org/drawingml/2006/main">
              <a:ext uri="{FF2B5EF4-FFF2-40B4-BE49-F238E27FC236}">
                <a16:creationId xmlns:a16="http://schemas.microsoft.com/office/drawing/2014/main" id="{C925652D-9503-4E59-914A-6633E22A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7-text-425">
            <a:extLst xmlns:a="http://schemas.openxmlformats.org/drawingml/2006/main">
              <a:ext uri="{FF2B5EF4-FFF2-40B4-BE49-F238E27FC236}">
                <a16:creationId xmlns:a16="http://schemas.microsoft.com/office/drawing/2014/main" id="{438820D4-5CE5-46F2-AE34-DBC6F88B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03 / 建设与平台</a:t>
            </a:r>
          </a:p>
        </p:txBody>
      </p:sp>
      <p:sp>
        <p:nvSpPr>
          <p:cNvPr id="4" name="p17-title">
            <a:extLst xmlns:a="http://schemas.openxmlformats.org/drawingml/2006/main">
              <a:ext uri="{FF2B5EF4-FFF2-40B4-BE49-F238E27FC236}">
                <a16:creationId xmlns:a16="http://schemas.microsoft.com/office/drawing/2014/main" id="{1B316516-6446-435D-BE3E-005C7378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在 OntoWeave 中构建与使用语义</a:t>
            </a:r>
          </a:p>
        </p:txBody>
      </p:sp>
      <p:sp>
        <p:nvSpPr>
          <p:cNvPr id="5" name="p17-text-426">
            <a:extLst xmlns:a="http://schemas.openxmlformats.org/drawingml/2006/main">
              <a:ext uri="{FF2B5EF4-FFF2-40B4-BE49-F238E27FC236}">
                <a16:creationId xmlns:a16="http://schemas.microsoft.com/office/drawing/2014/main" id="{D2D6B30E-D879-4DEB-9E76-FD9720E2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构建时整理含义，使用时取得与任务相关的知识</a:t>
            </a:r>
          </a:p>
        </p:txBody>
      </p:sp>
      <p:sp>
        <p:nvSpPr>
          <p:cNvPr id="6" name="p17-shape-427">
            <a:extLst xmlns:a="http://schemas.openxmlformats.org/drawingml/2006/main">
              <a:ext uri="{FF2B5EF4-FFF2-40B4-BE49-F238E27FC236}">
                <a16:creationId xmlns:a16="http://schemas.microsoft.com/office/drawing/2014/main" id="{9ABA0F4B-D9E8-4A24-9632-506DE6D3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7-text-428">
            <a:extLst xmlns:a="http://schemas.openxmlformats.org/drawingml/2006/main">
              <a:ext uri="{FF2B5EF4-FFF2-40B4-BE49-F238E27FC236}">
                <a16:creationId xmlns:a16="http://schemas.microsoft.com/office/drawing/2014/main" id="{74458AE3-DD56-4A55-9D81-555E0010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平台提供相关语义，Agent 再结合当前事实与工具完成任务</a:t>
            </a:r>
          </a:p>
        </p:txBody>
      </p:sp>
      <p:sp>
        <p:nvSpPr>
          <p:cNvPr id="8" name="p17-text-429">
            <a:extLst xmlns:a="http://schemas.openxmlformats.org/drawingml/2006/main">
              <a:ext uri="{FF2B5EF4-FFF2-40B4-BE49-F238E27FC236}">
                <a16:creationId xmlns:a16="http://schemas.microsoft.com/office/drawing/2014/main" id="{A90FBCBE-CEB2-4A48-B060-3CE599E4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25025"/>
            <a:ext cx="1466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9C6C36"/>
                </a:solidFill>
                <a:latin typeface="Noto Sans CJK SC"/>
                <a:ea typeface="Noto Sans CJK SC"/>
                <a:cs typeface="Noto Sans CJK SC"/>
              </a:rPr>
              <a:t>流程与读取内容为教学示意，非真实运行回执。</a:t>
            </a:r>
          </a:p>
        </p:txBody>
      </p:sp>
      <p:sp>
        <p:nvSpPr>
          <p:cNvPr id="9" name="p17-text-430">
            <a:extLst xmlns:a="http://schemas.openxmlformats.org/drawingml/2006/main">
              <a:ext uri="{FF2B5EF4-FFF2-40B4-BE49-F238E27FC236}">
                <a16:creationId xmlns:a16="http://schemas.microsoft.com/office/drawing/2014/main" id="{7D47BCA9-4AB7-4886-9045-6422E68A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17 / 18</a:t>
            </a:r>
          </a:p>
        </p:txBody>
      </p:sp>
      <p:sp>
        <p:nvSpPr>
          <p:cNvPr id="10" name="p17-text-431">
            <a:extLst xmlns:a="http://schemas.openxmlformats.org/drawingml/2006/main">
              <a:ext uri="{FF2B5EF4-FFF2-40B4-BE49-F238E27FC236}">
                <a16:creationId xmlns:a16="http://schemas.microsoft.com/office/drawing/2014/main" id="{34DCB1D3-6CAD-499D-8E52-B722069C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构建时</a:t>
            </a:r>
          </a:p>
        </p:txBody>
      </p:sp>
      <p:sp>
        <p:nvSpPr>
          <p:cNvPr id="11" name="p17-shape-432">
            <a:extLst xmlns:a="http://schemas.openxmlformats.org/drawingml/2006/main">
              <a:ext uri="{FF2B5EF4-FFF2-40B4-BE49-F238E27FC236}">
                <a16:creationId xmlns:a16="http://schemas.microsoft.com/office/drawing/2014/main" id="{1339102F-C47F-41E8-AB8B-7E36491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2" name="p17-text-433">
            <a:extLst xmlns:a="http://schemas.openxmlformats.org/drawingml/2006/main">
              <a:ext uri="{FF2B5EF4-FFF2-40B4-BE49-F238E27FC236}">
                <a16:creationId xmlns:a16="http://schemas.microsoft.com/office/drawing/2014/main" id="{F467AE29-A741-4415-AC6D-92C88FE1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9108"/>
            <a:ext cx="262890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制度与访谈</a:t>
            </a:r>
          </a:p>
        </p:txBody>
      </p:sp>
      <p:sp>
        <p:nvSpPr>
          <p:cNvPr id="13" name="p17-shape-434">
            <a:extLst xmlns:a="http://schemas.openxmlformats.org/drawingml/2006/main">
              <a:ext uri="{FF2B5EF4-FFF2-40B4-BE49-F238E27FC236}">
                <a16:creationId xmlns:a16="http://schemas.microsoft.com/office/drawing/2014/main" id="{F59D06FC-B30F-4ACF-BBBA-1DC52368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005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4" name="p17-text-435">
            <a:extLst xmlns:a="http://schemas.openxmlformats.org/drawingml/2006/main">
              <a:ext uri="{FF2B5EF4-FFF2-40B4-BE49-F238E27FC236}">
                <a16:creationId xmlns:a16="http://schemas.microsoft.com/office/drawing/2014/main" id="{FF5A50BF-2614-4082-B63D-10C88FE1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89108"/>
            <a:ext cx="262890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建模 Agent</a:t>
            </a:r>
          </a:p>
        </p:txBody>
      </p:sp>
      <p:sp>
        <p:nvSpPr>
          <p:cNvPr id="15" name="p17-shape-436">
            <a:extLst xmlns:a="http://schemas.openxmlformats.org/drawingml/2006/main">
              <a:ext uri="{FF2B5EF4-FFF2-40B4-BE49-F238E27FC236}">
                <a16:creationId xmlns:a16="http://schemas.microsoft.com/office/drawing/2014/main" id="{31D9A40F-E9F7-465B-99BB-8F8DE4AE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17-text-437">
            <a:extLst xmlns:a="http://schemas.openxmlformats.org/drawingml/2006/main">
              <a:ext uri="{FF2B5EF4-FFF2-40B4-BE49-F238E27FC236}">
                <a16:creationId xmlns:a16="http://schemas.microsoft.com/office/drawing/2014/main" id="{A37E44F8-A1FE-466D-ABB6-FAC57C4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9108"/>
            <a:ext cx="339090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平台中的领域语义</a:t>
            </a:r>
          </a:p>
        </p:txBody>
      </p:sp>
      <p:sp>
        <p:nvSpPr>
          <p:cNvPr id="17" name="p17-shape-438">
            <a:extLst xmlns:a="http://schemas.openxmlformats.org/drawingml/2006/main">
              <a:ext uri="{FF2B5EF4-FFF2-40B4-BE49-F238E27FC236}">
                <a16:creationId xmlns:a16="http://schemas.microsoft.com/office/drawing/2014/main" id="{3748E27C-2133-41D6-9612-6874DF4A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000500"/>
            <a:ext cx="2171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18" name="p17-text-439">
            <a:extLst xmlns:a="http://schemas.openxmlformats.org/drawingml/2006/main">
              <a:ext uri="{FF2B5EF4-FFF2-40B4-BE49-F238E27FC236}">
                <a16:creationId xmlns:a16="http://schemas.microsoft.com/office/drawing/2014/main" id="{BDAC227B-0A06-4DA3-8ED6-851E75A3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4289108"/>
            <a:ext cx="194310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业务验证</a:t>
            </a:r>
          </a:p>
        </p:txBody>
      </p: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24300" y="449580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0" name="p17-text-440">
            <a:extLst xmlns:a="http://schemas.openxmlformats.org/drawingml/2006/main">
              <a:ext uri="{FF2B5EF4-FFF2-40B4-BE49-F238E27FC236}">
                <a16:creationId xmlns:a16="http://schemas.microsoft.com/office/drawing/2014/main" id="{EE65C7F6-2149-4E4A-B845-586059F8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053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澄清与整理</a:t>
            </a:r>
          </a:p>
        </p:txBody>
      </p:sp>
      <p:cxnSp>
        <p:nvCxnSpPr>
          <p:cNvPr id="59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449580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2" name="p17-text-441">
            <a:extLst xmlns:a="http://schemas.openxmlformats.org/drawingml/2006/main">
              <a:ext uri="{FF2B5EF4-FFF2-40B4-BE49-F238E27FC236}">
                <a16:creationId xmlns:a16="http://schemas.microsoft.com/office/drawing/2014/main" id="{AC82EBF0-B40B-4FB6-BACD-61E5F2B2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提交模型</a:t>
            </a:r>
          </a:p>
        </p:txBody>
      </p:sp>
      <p:cxnSp>
        <p:nvCxnSpPr>
          <p:cNvPr id="61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3601700" y="449580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4" name="p17-text-442">
            <a:extLst xmlns:a="http://schemas.openxmlformats.org/drawingml/2006/main">
              <a:ext uri="{FF2B5EF4-FFF2-40B4-BE49-F238E27FC236}">
                <a16:creationId xmlns:a16="http://schemas.microsoft.com/office/drawing/2014/main" id="{6DBB170B-8608-4B34-9151-8249AFD8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4305300"/>
            <a:ext cx="1152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读取核对</a:t>
            </a:r>
          </a:p>
        </p:txBody>
      </p:sp>
      <p:sp>
        <p:nvSpPr>
          <p:cNvPr id="25" name="p17-shape-443">
            <a:extLst xmlns:a="http://schemas.openxmlformats.org/drawingml/2006/main">
              <a:ext uri="{FF2B5EF4-FFF2-40B4-BE49-F238E27FC236}">
                <a16:creationId xmlns:a16="http://schemas.microsoft.com/office/drawing/2014/main" id="{DC733969-559C-476F-A09A-87565128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26" name="p17-text-444">
            <a:extLst xmlns:a="http://schemas.openxmlformats.org/drawingml/2006/main">
              <a:ext uri="{FF2B5EF4-FFF2-40B4-BE49-F238E27FC236}">
                <a16:creationId xmlns:a16="http://schemas.microsoft.com/office/drawing/2014/main" id="{70663D0A-C47C-42B0-9810-8AFD7EAA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721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使用时</a:t>
            </a:r>
          </a:p>
        </p:txBody>
      </p:sp>
      <p:sp>
        <p:nvSpPr>
          <p:cNvPr id="27" name="p17-shape-445">
            <a:extLst xmlns:a="http://schemas.openxmlformats.org/drawingml/2006/main">
              <a:ext uri="{FF2B5EF4-FFF2-40B4-BE49-F238E27FC236}">
                <a16:creationId xmlns:a16="http://schemas.microsoft.com/office/drawing/2014/main" id="{917AE0C1-4BA1-4FBB-8658-16B85E56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67525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28" name="p17-text-446">
            <a:extLst xmlns:a="http://schemas.openxmlformats.org/drawingml/2006/main">
              <a:ext uri="{FF2B5EF4-FFF2-40B4-BE49-F238E27FC236}">
                <a16:creationId xmlns:a16="http://schemas.microsoft.com/office/drawing/2014/main" id="{399F21D8-585C-4577-8AFF-E50A0F63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156133"/>
            <a:ext cx="262890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谁来审批？</a:t>
            </a:r>
          </a:p>
        </p:txBody>
      </p:sp>
      <p:sp>
        <p:nvSpPr>
          <p:cNvPr id="29" name="p17-shape-447">
            <a:extLst xmlns:a="http://schemas.openxmlformats.org/drawingml/2006/main">
              <a:ext uri="{FF2B5EF4-FFF2-40B4-BE49-F238E27FC236}">
                <a16:creationId xmlns:a16="http://schemas.microsoft.com/office/drawing/2014/main" id="{59202B01-137E-4533-8B60-B9C0FC4D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67525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17-text-448">
            <a:extLst xmlns:a="http://schemas.openxmlformats.org/drawingml/2006/main">
              <a:ext uri="{FF2B5EF4-FFF2-40B4-BE49-F238E27FC236}">
                <a16:creationId xmlns:a16="http://schemas.microsoft.com/office/drawing/2014/main" id="{E296983A-8851-4524-BBB3-8912ED8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156133"/>
            <a:ext cx="262890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325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业务 Agent</a:t>
            </a:r>
          </a:p>
        </p:txBody>
      </p:sp>
      <p:cxnSp>
        <p:nvCxnSpPr>
          <p:cNvPr id="69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924300" y="7362825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32" name="p17-text-449">
            <a:extLst xmlns:a="http://schemas.openxmlformats.org/drawingml/2006/main">
              <a:ext uri="{FF2B5EF4-FFF2-40B4-BE49-F238E27FC236}">
                <a16:creationId xmlns:a16="http://schemas.microsoft.com/office/drawing/2014/main" id="{384FE3DD-76C6-453E-8D76-57082B0F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7172325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理解任务</a:t>
            </a:r>
          </a:p>
        </p:txBody>
      </p:sp>
      <p:sp>
        <p:nvSpPr>
          <p:cNvPr id="33" name="p17-shape-450">
            <a:extLst xmlns:a="http://schemas.openxmlformats.org/drawingml/2006/main">
              <a:ext uri="{FF2B5EF4-FFF2-40B4-BE49-F238E27FC236}">
                <a16:creationId xmlns:a16="http://schemas.microsoft.com/office/drawing/2014/main" id="{53B7A933-2F22-4263-AEF3-879CE270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315075"/>
            <a:ext cx="7239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17-text-451">
            <a:extLst xmlns:a="http://schemas.openxmlformats.org/drawingml/2006/main">
              <a:ext uri="{FF2B5EF4-FFF2-40B4-BE49-F238E27FC236}">
                <a16:creationId xmlns:a16="http://schemas.microsoft.com/office/drawing/2014/main" id="{917A62C3-EB57-4AC5-AB61-57E6088C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本次读取的相关语义</a:t>
            </a:r>
          </a:p>
        </p:txBody>
      </p:sp>
      <p:sp>
        <p:nvSpPr>
          <p:cNvPr id="35" name="p17-text-452">
            <a:extLst xmlns:a="http://schemas.openxmlformats.org/drawingml/2006/main">
              <a:ext uri="{FF2B5EF4-FFF2-40B4-BE49-F238E27FC236}">
                <a16:creationId xmlns:a16="http://schemas.microsoft.com/office/drawing/2014/main" id="{33CF4BCA-05E6-4363-A957-70647F2A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096125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审批政策    所属部门关系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负责人含义    人事信息来源</a:t>
            </a:r>
          </a:p>
        </p:txBody>
      </p:sp>
      <p:cxnSp>
        <p:nvCxnSpPr>
          <p:cNvPr id="74" name=""/>
          <p:cNvCxnSpPr>
            <a:stCxn xmlns:a="http://schemas.openxmlformats.org/drawingml/2006/main" id="29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6953250" y="4991100"/>
            <a:ext cx="4838700" cy="1876425"/>
          </a:xfrm>
          <a:prstGeom xmlns:a="http://schemas.openxmlformats.org/drawingml/2006/main" prst="bentConnector4">
            <a:avLst>
              <a:gd name="adj1" fmla="val 0"/>
              <a:gd name="adj2" fmla="val 87817"/>
            </a:avLst>
          </a:prstGeom>
          <a:ln xmlns:a="http://schemas.openxmlformats.org/drawingml/2006/main" w="23813">
            <a:solidFill>
              <a:srgbClr val="2C7053"/>
            </a:solidFill>
            <a:prstDash val="solid"/>
            <a:tailEnd type="arrow" w="med" len="med"/>
          </a:ln>
        </p:spPr>
      </p:cxnSp>
      <p:sp>
        <p:nvSpPr>
          <p:cNvPr id="37" name="p17-text-453">
            <a:extLst xmlns:a="http://schemas.openxmlformats.org/drawingml/2006/main">
              <a:ext uri="{FF2B5EF4-FFF2-40B4-BE49-F238E27FC236}">
                <a16:creationId xmlns:a16="http://schemas.microsoft.com/office/drawing/2014/main" id="{1208418B-5761-4653-8733-37AC5E77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8102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语义检索</a:t>
            </a:r>
          </a:p>
        </p:txBody>
      </p:sp>
      <p:sp>
        <p:nvSpPr>
          <p:cNvPr id="38" name="p17-text-454">
            <a:extLst xmlns:a="http://schemas.openxmlformats.org/drawingml/2006/main">
              <a:ext uri="{FF2B5EF4-FFF2-40B4-BE49-F238E27FC236}">
                <a16:creationId xmlns:a16="http://schemas.microsoft.com/office/drawing/2014/main" id="{0D9ABB4C-9153-40CC-8816-6804374D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72450"/>
            <a:ext cx="857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再查询事实、解释答案或执行获准操作</a:t>
            </a:r>
          </a:p>
        </p:txBody>
      </p:sp>
    </p:spTree>
    <p:extLst>
      <p:ext uri="{BB962C8B-B14F-4D97-AF65-F5344CB8AC3E}">
        <p14:creationId xmlns:p14="http://schemas.microsoft.com/office/powerpoint/2010/main" val="20278441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18-shape-455">
            <a:extLst xmlns:a="http://schemas.openxmlformats.org/drawingml/2006/main">
              <a:ext uri="{FF2B5EF4-FFF2-40B4-BE49-F238E27FC236}">
                <a16:creationId xmlns:a16="http://schemas.microsoft.com/office/drawing/2014/main" id="{B3351062-EA33-4EED-BEEA-E12F15D1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2" name="p18-text-456">
            <a:extLst xmlns:a="http://schemas.openxmlformats.org/drawingml/2006/main">
              <a:ext uri="{FF2B5EF4-FFF2-40B4-BE49-F238E27FC236}">
                <a16:creationId xmlns:a16="http://schemas.microsoft.com/office/drawing/2014/main" id="{19136D37-76B0-4E6B-B7FF-5FEE27D9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OntoWeave ／ 织义</a:t>
            </a:r>
          </a:p>
        </p:txBody>
      </p:sp>
      <p:sp>
        <p:nvSpPr>
          <p:cNvPr id="3" name="p18-text-457">
            <a:extLst xmlns:a="http://schemas.openxmlformats.org/drawingml/2006/main">
              <a:ext uri="{FF2B5EF4-FFF2-40B4-BE49-F238E27FC236}">
                <a16:creationId xmlns:a16="http://schemas.microsoft.com/office/drawing/2014/main" id="{0764332F-3959-4FED-9FA4-0B86E508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71525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本体与 Agent</a:t>
            </a:r>
          </a:p>
        </p:txBody>
      </p:sp>
      <p:sp>
        <p:nvSpPr>
          <p:cNvPr id="4" name="p18-title">
            <a:extLst xmlns:a="http://schemas.openxmlformats.org/drawingml/2006/main">
              <a:ext uri="{FF2B5EF4-FFF2-40B4-BE49-F238E27FC236}">
                <a16:creationId xmlns:a16="http://schemas.microsoft.com/office/drawing/2014/main" id="{942FA384-8C1D-445E-9B3D-A716D101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16154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让 Agent 有明确的业务语义可用</a:t>
            </a:r>
          </a:p>
        </p:txBody>
      </p:sp>
      <p:sp>
        <p:nvSpPr>
          <p:cNvPr id="5" name="p18-text-458">
            <a:extLst xmlns:a="http://schemas.openxmlformats.org/drawingml/2006/main">
              <a:ext uri="{FF2B5EF4-FFF2-40B4-BE49-F238E27FC236}">
                <a16:creationId xmlns:a16="http://schemas.microsoft.com/office/drawing/2014/main" id="{93C5B5FC-CBC6-4D2C-A141-EE5DED86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从一张差旅申请，回到我们对本体的理解</a:t>
            </a:r>
          </a:p>
        </p:txBody>
      </p:sp>
      <p:sp>
        <p:nvSpPr>
          <p:cNvPr id="6" name="p18-shape-459">
            <a:extLst xmlns:a="http://schemas.openxmlformats.org/drawingml/2006/main">
              <a:ext uri="{FF2B5EF4-FFF2-40B4-BE49-F238E27FC236}">
                <a16:creationId xmlns:a16="http://schemas.microsoft.com/office/drawing/2014/main" id="{CDA2CDD8-1B50-44FC-9974-52D4A640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7730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7" name="p18-text-460">
            <a:extLst xmlns:a="http://schemas.openxmlformats.org/drawingml/2006/main">
              <a:ext uri="{FF2B5EF4-FFF2-40B4-BE49-F238E27FC236}">
                <a16:creationId xmlns:a16="http://schemas.microsoft.com/office/drawing/2014/main" id="{49013526-3AF6-4621-ADDC-8A3F3668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086850"/>
            <a:ext cx="1615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OntoWeave 支持这份领域知识的构建、维护与使用</a:t>
            </a:r>
          </a:p>
        </p:txBody>
      </p:sp>
      <p:sp>
        <p:nvSpPr>
          <p:cNvPr id="8" name="p18-text-461">
            <a:extLst xmlns:a="http://schemas.openxmlformats.org/drawingml/2006/main">
              <a:ext uri="{FF2B5EF4-FFF2-40B4-BE49-F238E27FC236}">
                <a16:creationId xmlns:a16="http://schemas.microsoft.com/office/drawing/2014/main" id="{66F879DA-B8BF-4B4F-8724-7ABFB310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97250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18 / 18</a:t>
            </a:r>
          </a:p>
        </p:txBody>
      </p:sp>
      <p:sp>
        <p:nvSpPr>
          <p:cNvPr id="9" name="p18-shape-462">
            <a:extLst xmlns:a="http://schemas.openxmlformats.org/drawingml/2006/main">
              <a:ext uri="{FF2B5EF4-FFF2-40B4-BE49-F238E27FC236}">
                <a16:creationId xmlns:a16="http://schemas.microsoft.com/office/drawing/2014/main" id="{9900A715-8C84-4715-AA3B-A912A433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0" name="p18-text-463">
            <a:extLst xmlns:a="http://schemas.openxmlformats.org/drawingml/2006/main">
              <a:ext uri="{FF2B5EF4-FFF2-40B4-BE49-F238E27FC236}">
                <a16:creationId xmlns:a16="http://schemas.microsoft.com/office/drawing/2014/main" id="{E4A61CD5-D490-42CD-8AD0-401A4F94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现实世界</a:t>
            </a:r>
          </a:p>
        </p:txBody>
      </p:sp>
      <p:sp>
        <p:nvSpPr>
          <p:cNvPr id="11" name="p18-text-464">
            <a:extLst xmlns:a="http://schemas.openxmlformats.org/drawingml/2006/main">
              <a:ext uri="{FF2B5EF4-FFF2-40B4-BE49-F238E27FC236}">
                <a16:creationId xmlns:a16="http://schemas.microsoft.com/office/drawing/2014/main" id="{94D738B8-DF92-4373-AC5B-059EA0C0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我们要描述和理解的对象</a:t>
            </a:r>
          </a:p>
        </p:txBody>
      </p:sp>
      <p:sp>
        <p:nvSpPr>
          <p:cNvPr id="12" name="p18-shape-465">
            <a:extLst xmlns:a="http://schemas.openxmlformats.org/drawingml/2006/main">
              <a:ext uri="{FF2B5EF4-FFF2-40B4-BE49-F238E27FC236}">
                <a16:creationId xmlns:a16="http://schemas.microsoft.com/office/drawing/2014/main" id="{0AF4BED0-FA61-4513-82A8-3A871ACA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3" name="p18-text-466">
            <a:extLst xmlns:a="http://schemas.openxmlformats.org/drawingml/2006/main">
              <a:ext uri="{FF2B5EF4-FFF2-40B4-BE49-F238E27FC236}">
                <a16:creationId xmlns:a16="http://schemas.microsoft.com/office/drawing/2014/main" id="{C271509C-14EF-4A3B-88B9-EDAA47D9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本体</a:t>
            </a:r>
          </a:p>
        </p:txBody>
      </p:sp>
      <p:sp>
        <p:nvSpPr>
          <p:cNvPr id="14" name="p18-text-467">
            <a:extLst xmlns:a="http://schemas.openxmlformats.org/drawingml/2006/main">
              <a:ext uri="{FF2B5EF4-FFF2-40B4-BE49-F238E27FC236}">
                <a16:creationId xmlns:a16="http://schemas.microsoft.com/office/drawing/2014/main" id="{5E25F022-2A9F-4A46-B896-AF908E6D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对领域语义的明确建模</a:t>
            </a:r>
          </a:p>
        </p:txBody>
      </p:sp>
      <p:sp>
        <p:nvSpPr>
          <p:cNvPr id="15" name="p18-shape-468">
            <a:extLst xmlns:a="http://schemas.openxmlformats.org/drawingml/2006/main">
              <a:ext uri="{FF2B5EF4-FFF2-40B4-BE49-F238E27FC236}">
                <a16:creationId xmlns:a16="http://schemas.microsoft.com/office/drawing/2014/main" id="{9634A6C3-AE5F-4923-A493-247E26C4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38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927E"/>
            </a:solidFill>
            <a:prstDash val="solid"/>
          </a:ln>
        </p:spPr>
      </p:sp>
      <p:sp>
        <p:nvSpPr>
          <p:cNvPr id="16" name="p18-text-469">
            <a:extLst xmlns:a="http://schemas.openxmlformats.org/drawingml/2006/main">
              <a:ext uri="{FF2B5EF4-FFF2-40B4-BE49-F238E27FC236}">
                <a16:creationId xmlns:a16="http://schemas.microsoft.com/office/drawing/2014/main" id="{9EC8C1E0-55F0-4CE7-B07D-29557629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476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RDF / OWL 等</a:t>
            </a:r>
          </a:p>
        </p:txBody>
      </p:sp>
      <p:sp>
        <p:nvSpPr>
          <p:cNvPr id="17" name="p18-text-470">
            <a:extLst xmlns:a="http://schemas.openxmlformats.org/drawingml/2006/main">
              <a:ext uri="{FF2B5EF4-FFF2-40B4-BE49-F238E27FC236}">
                <a16:creationId xmlns:a16="http://schemas.microsoft.com/office/drawing/2014/main" id="{497612EB-AF8C-4B6E-BFED-4D1FDE6F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1052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表达这些知识的相关技术</a:t>
            </a:r>
          </a:p>
        </p:txBody>
      </p:sp>
      <p:sp>
        <p:nvSpPr>
          <p:cNvPr id="18" name="p18-shape-471">
            <a:extLst xmlns:a="http://schemas.openxmlformats.org/drawingml/2006/main">
              <a:ext uri="{FF2B5EF4-FFF2-40B4-BE49-F238E27FC236}">
                <a16:creationId xmlns:a16="http://schemas.microsoft.com/office/drawing/2014/main" id="{3C776AA7-2D22-4696-85C1-2CD344C3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61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FCCBF"/>
            </a:solidFill>
            <a:prstDash val="solid"/>
          </a:ln>
        </p:spPr>
      </p:sp>
      <p:sp>
        <p:nvSpPr>
          <p:cNvPr id="19" name="p18-text-472">
            <a:extLst xmlns:a="http://schemas.openxmlformats.org/drawingml/2006/main">
              <a:ext uri="{FF2B5EF4-FFF2-40B4-BE49-F238E27FC236}">
                <a16:creationId xmlns:a16="http://schemas.microsoft.com/office/drawing/2014/main" id="{36ABDBD2-586B-408C-A6E7-7C8980E0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38825"/>
            <a:ext cx="1615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375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75" b="1">
                <a:solidFill>
                  <a:srgbClr val="16382E"/>
                </a:solidFill>
                <a:latin typeface="Noto Serif CJK SC"/>
                <a:ea typeface="Noto Serif CJK SC"/>
                <a:cs typeface="Noto Serif CJK SC"/>
              </a:rPr>
              <a:t>Agent 结合语义、当前事实与工具，完成业务任务。</a:t>
            </a:r>
          </a:p>
        </p:txBody>
      </p:sp>
      <p:sp>
        <p:nvSpPr>
          <p:cNvPr id="20" name="p18-shape-473">
            <a:extLst xmlns:a="http://schemas.openxmlformats.org/drawingml/2006/main">
              <a:ext uri="{FF2B5EF4-FFF2-40B4-BE49-F238E27FC236}">
                <a16:creationId xmlns:a16="http://schemas.microsoft.com/office/drawing/2014/main" id="{84E7BE0A-102D-467E-B44E-8B87EB0F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00925"/>
            <a:ext cx="2905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21" name="p18-text-474">
            <a:extLst xmlns:a="http://schemas.openxmlformats.org/drawingml/2006/main">
              <a:ext uri="{FF2B5EF4-FFF2-40B4-BE49-F238E27FC236}">
                <a16:creationId xmlns:a16="http://schemas.microsoft.com/office/drawing/2014/main" id="{CCFF0246-9206-4A14-A9C6-8663ACD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669530"/>
            <a:ext cx="26765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张三</a:t>
            </a:r>
          </a:p>
        </p:txBody>
      </p:sp>
      <p:sp>
        <p:nvSpPr>
          <p:cNvPr id="22" name="p18-shape-475">
            <a:extLst xmlns:a="http://schemas.openxmlformats.org/drawingml/2006/main">
              <a:ext uri="{FF2B5EF4-FFF2-40B4-BE49-F238E27FC236}">
                <a16:creationId xmlns:a16="http://schemas.microsoft.com/office/drawing/2014/main" id="{82776A55-F37D-4606-98D7-418BDF6D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400925"/>
            <a:ext cx="2905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17145">
            <a:solidFill>
              <a:srgbClr val="73927E"/>
            </a:solidFill>
            <a:prstDash val="solid"/>
          </a:ln>
        </p:spPr>
      </p:sp>
      <p:sp>
        <p:nvSpPr>
          <p:cNvPr id="23" name="p18-text-476">
            <a:extLst xmlns:a="http://schemas.openxmlformats.org/drawingml/2006/main">
              <a:ext uri="{FF2B5EF4-FFF2-40B4-BE49-F238E27FC236}">
                <a16:creationId xmlns:a16="http://schemas.microsoft.com/office/drawing/2014/main" id="{7E0F22CA-22DE-46F8-8484-6B872A52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669530"/>
            <a:ext cx="26765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6382E"/>
                </a:solidFill>
                <a:latin typeface="Noto Sans CJK SC"/>
                <a:ea typeface="Noto Sans CJK SC"/>
                <a:cs typeface="Noto Sans CJK SC"/>
              </a:rPr>
              <a:t>研发部</a:t>
            </a:r>
          </a:p>
        </p:txBody>
      </p:sp>
      <p:sp>
        <p:nvSpPr>
          <p:cNvPr id="24" name="p18-shape-477">
            <a:extLst xmlns:a="http://schemas.openxmlformats.org/drawingml/2006/main">
              <a:ext uri="{FF2B5EF4-FFF2-40B4-BE49-F238E27FC236}">
                <a16:creationId xmlns:a16="http://schemas.microsoft.com/office/drawing/2014/main" id="{1BE74D62-298C-4037-AA06-3841800D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40092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18-text-478">
            <a:extLst xmlns:a="http://schemas.openxmlformats.org/drawingml/2006/main">
              <a:ext uri="{FF2B5EF4-FFF2-40B4-BE49-F238E27FC236}">
                <a16:creationId xmlns:a16="http://schemas.microsoft.com/office/drawing/2014/main" id="{C00CB069-5160-4C06-B634-73FA60ED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669530"/>
            <a:ext cx="39624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5F3EC"/>
                </a:solidFill>
                <a:latin typeface="Noto Sans CJK SC"/>
                <a:ea typeface="Noto Sans CJK SC"/>
                <a:cs typeface="Noto Sans CJK SC"/>
              </a:rPr>
              <a:t>李敏审批</a:t>
            </a:r>
          </a:p>
        </p:txBody>
      </p:sp>
      <p:cxnSp>
        <p:nvCxnSpPr>
          <p:cNvPr id="55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71925" y="7896225"/>
            <a:ext cx="3095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927E"/>
            </a:solidFill>
            <a:prstDash val="solid"/>
            <a:tailEnd type="arrow" w="med" len="med"/>
          </a:ln>
        </p:spPr>
      </p:cxnSp>
      <p:sp>
        <p:nvSpPr>
          <p:cNvPr id="27" name="p18-text-479">
            <a:extLst xmlns:a="http://schemas.openxmlformats.org/drawingml/2006/main">
              <a:ext uri="{FF2B5EF4-FFF2-40B4-BE49-F238E27FC236}">
                <a16:creationId xmlns:a16="http://schemas.microsoft.com/office/drawing/2014/main" id="{18FA858C-5E71-4553-9825-123DEDC5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7057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17068"/>
                </a:solidFill>
                <a:latin typeface="Noto Sans CJK SC"/>
                <a:ea typeface="Noto Sans CJK SC"/>
                <a:cs typeface="Noto Sans CJK SC"/>
              </a:rPr>
              <a:t>所属部门</a:t>
            </a:r>
          </a:p>
        </p:txBody>
      </p: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972675" y="7896225"/>
            <a:ext cx="3057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C7053"/>
            </a:solidFill>
            <a:prstDash val="solid"/>
            <a:tailEnd type="arrow" w="med" len="med"/>
          </a:ln>
        </p:spPr>
      </p:cxnSp>
      <p:sp>
        <p:nvSpPr>
          <p:cNvPr id="29" name="p18-text-480">
            <a:extLst xmlns:a="http://schemas.openxmlformats.org/drawingml/2006/main">
              <a:ext uri="{FF2B5EF4-FFF2-40B4-BE49-F238E27FC236}">
                <a16:creationId xmlns:a16="http://schemas.microsoft.com/office/drawing/2014/main" id="{430B87CE-85FA-413B-8933-E2B1230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705725"/>
            <a:ext cx="2543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C7053"/>
                </a:solidFill>
                <a:latin typeface="Noto Sans CJK SC"/>
                <a:ea typeface="Noto Sans CJK SC"/>
                <a:cs typeface="Noto Sans CJK SC"/>
              </a:rPr>
              <a:t>按本例政策，找负责人</a:t>
            </a:r>
          </a:p>
        </p:txBody>
      </p:sp>
    </p:spTree>
    <p:extLst>
      <p:ext uri="{BB962C8B-B14F-4D97-AF65-F5344CB8AC3E}">
        <p14:creationId xmlns:p14="http://schemas.microsoft.com/office/powerpoint/2010/main" val="533066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2026-10-15T07:15:09.8440000Z</dcterms:created>
  <dcterms:modified xsi:type="dcterms:W3CDTF">2026-10-15T07:15:09.8440000Z</dcterms:modified>
</coreProperties>
</file>